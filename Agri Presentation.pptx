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8" r:id="rId3"/>
    <p:sldId id="288" r:id="rId4"/>
    <p:sldId id="264" r:id="rId5"/>
    <p:sldId id="257" r:id="rId6"/>
    <p:sldId id="286" r:id="rId7"/>
    <p:sldId id="262" r:id="rId8"/>
    <p:sldId id="287" r:id="rId9"/>
    <p:sldId id="263" r:id="rId10"/>
    <p:sldId id="265" r:id="rId11"/>
    <p:sldId id="266" r:id="rId12"/>
    <p:sldId id="294" r:id="rId13"/>
    <p:sldId id="281" r:id="rId14"/>
    <p:sldId id="282" r:id="rId15"/>
    <p:sldId id="292" r:id="rId16"/>
    <p:sldId id="290" r:id="rId17"/>
    <p:sldId id="284" r:id="rId18"/>
    <p:sldId id="291" r:id="rId19"/>
    <p:sldId id="259" r:id="rId20"/>
    <p:sldId id="260" r:id="rId21"/>
    <p:sldId id="293" r:id="rId22"/>
    <p:sldId id="280" r:id="rId23"/>
    <p:sldId id="268" r:id="rId24"/>
    <p:sldId id="269" r:id="rId25"/>
    <p:sldId id="272" r:id="rId26"/>
    <p:sldId id="273" r:id="rId27"/>
    <p:sldId id="276" r:id="rId28"/>
    <p:sldId id="289" r:id="rId29"/>
    <p:sldId id="295" r:id="rId30"/>
    <p:sldId id="296" r:id="rId31"/>
    <p:sldId id="261" r:id="rId32"/>
    <p:sldId id="29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7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21F9F3-E1C8-5697-52D9-11866178F9EE}" v="56" dt="2025-04-15T07:35:23.258"/>
    <p1510:client id="{1941CEE6-78D1-E48C-84D7-D5B223111C78}" v="604" dt="2025-04-15T06:02:50.532"/>
    <p1510:client id="{446D203F-C005-ACCC-7FA1-CECE149D03CD}" v="8" dt="2025-04-15T15:28:50.980"/>
    <p1510:client id="{5020AC9B-F41F-8DC6-9D9B-AF3C9EB6C587}" v="91" dt="2025-04-15T16:06:04.825"/>
    <p1510:client id="{5454CD8D-3C5B-F143-1A02-DDD0CBAA1D9A}" v="31" dt="2025-04-14T18:43:30.950"/>
    <p1510:client id="{7C806DCA-2ED3-F6D3-4B34-4BADF09E433B}" v="8" dt="2025-04-16T03:47:49.267"/>
    <p1510:client id="{86791C73-05EA-F881-6C42-416AC36CE098}" v="22" dt="2025-04-16T08:20:01.631"/>
    <p1510:client id="{B509287A-92FA-7FC8-C6A1-C97C32F40923}" v="59" dt="2025-04-15T10:28:51.950"/>
    <p1510:client id="{C7E57DC7-7252-84B2-2E52-34DAFAC2C8E7}" v="3383" dt="2025-04-15T15:51:22.727"/>
    <p1510:client id="{D705542E-5DE6-93F6-ADE4-7FB99ADE8F12}" v="1323" dt="2025-04-14T20:09:52.298"/>
    <p1510:client id="{E569D8BC-059B-2722-85FA-64F3E9234007}" v="42" dt="2025-04-14T19:58:57.989"/>
    <p1510:client id="{E5A844A8-1495-4851-A507-8695B07DD900}" v="2684" dt="2025-04-15T17:06:14.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A7544F-45B6-4D4A-81B4-63D2464E3952}" type="doc">
      <dgm:prSet loTypeId="urn:microsoft.com/office/officeart/2005/8/layout/chevron2" loCatId="list" qsTypeId="urn:microsoft.com/office/officeart/2005/8/quickstyle/simple1" qsCatId="simple" csTypeId="urn:microsoft.com/office/officeart/2005/8/colors/accent6_2" csCatId="accent6" phldr="1"/>
      <dgm:spPr/>
      <dgm:t>
        <a:bodyPr/>
        <a:lstStyle/>
        <a:p>
          <a:endParaRPr lang="en-IN"/>
        </a:p>
      </dgm:t>
    </dgm:pt>
    <dgm:pt modelId="{3C1F0DFA-A913-470F-8094-C95ECDDA680B}">
      <dgm:prSet phldrT="[Text]"/>
      <dgm:spPr/>
      <dgm:t>
        <a:bodyPr/>
        <a:lstStyle/>
        <a:p>
          <a:r>
            <a:rPr lang="en-US"/>
            <a:t>1.</a:t>
          </a:r>
          <a:endParaRPr lang="en-IN"/>
        </a:p>
      </dgm:t>
    </dgm:pt>
    <dgm:pt modelId="{2B1EC611-8B88-48C0-BD8E-180D599F057F}" type="parTrans" cxnId="{58226388-E001-4D5E-8F9D-0037E4BCBEE1}">
      <dgm:prSet/>
      <dgm:spPr/>
      <dgm:t>
        <a:bodyPr/>
        <a:lstStyle/>
        <a:p>
          <a:endParaRPr lang="en-IN"/>
        </a:p>
      </dgm:t>
    </dgm:pt>
    <dgm:pt modelId="{35CD09A1-CFFC-4A36-ABD5-4249E734DF5B}" type="sibTrans" cxnId="{58226388-E001-4D5E-8F9D-0037E4BCBEE1}">
      <dgm:prSet/>
      <dgm:spPr/>
      <dgm:t>
        <a:bodyPr/>
        <a:lstStyle/>
        <a:p>
          <a:endParaRPr lang="en-IN"/>
        </a:p>
      </dgm:t>
    </dgm:pt>
    <dgm:pt modelId="{15BEBCEC-A61C-44BB-8D8D-2FD4B4ABA693}">
      <dgm:prSet phldrT="[Text]"/>
      <dgm:spPr/>
      <dgm:t>
        <a:bodyPr/>
        <a:lstStyle/>
        <a:p>
          <a:r>
            <a:rPr lang="en-US"/>
            <a:t>Gaussian Ridge Regression Model</a:t>
          </a:r>
          <a:endParaRPr lang="en-IN"/>
        </a:p>
      </dgm:t>
    </dgm:pt>
    <dgm:pt modelId="{436BC7EF-A506-45CF-B79B-87F5E3BE2FA8}" type="parTrans" cxnId="{17CD99E7-019D-434E-95BD-B123309F7DE8}">
      <dgm:prSet/>
      <dgm:spPr/>
      <dgm:t>
        <a:bodyPr/>
        <a:lstStyle/>
        <a:p>
          <a:endParaRPr lang="en-IN"/>
        </a:p>
      </dgm:t>
    </dgm:pt>
    <dgm:pt modelId="{23D8EBC1-C614-4F43-9F0E-2DE3AE72C910}" type="sibTrans" cxnId="{17CD99E7-019D-434E-95BD-B123309F7DE8}">
      <dgm:prSet/>
      <dgm:spPr/>
      <dgm:t>
        <a:bodyPr/>
        <a:lstStyle/>
        <a:p>
          <a:endParaRPr lang="en-IN"/>
        </a:p>
      </dgm:t>
    </dgm:pt>
    <dgm:pt modelId="{EEB7F7C3-0086-4573-B568-1AD8A830D77F}">
      <dgm:prSet phldrT="[Text]"/>
      <dgm:spPr/>
      <dgm:t>
        <a:bodyPr/>
        <a:lstStyle/>
        <a:p>
          <a:r>
            <a:rPr lang="en-US"/>
            <a:t>2.</a:t>
          </a:r>
          <a:endParaRPr lang="en-IN"/>
        </a:p>
      </dgm:t>
    </dgm:pt>
    <dgm:pt modelId="{D44B65A9-7FAB-44A1-A0A3-1716A3680FD7}" type="parTrans" cxnId="{27D77EBA-6364-47DF-B189-FE926FB8D478}">
      <dgm:prSet/>
      <dgm:spPr/>
      <dgm:t>
        <a:bodyPr/>
        <a:lstStyle/>
        <a:p>
          <a:endParaRPr lang="en-IN"/>
        </a:p>
      </dgm:t>
    </dgm:pt>
    <dgm:pt modelId="{A3CF3C96-F34B-48E6-82A2-10E6BD12D234}" type="sibTrans" cxnId="{27D77EBA-6364-47DF-B189-FE926FB8D478}">
      <dgm:prSet/>
      <dgm:spPr/>
      <dgm:t>
        <a:bodyPr/>
        <a:lstStyle/>
        <a:p>
          <a:endParaRPr lang="en-IN"/>
        </a:p>
      </dgm:t>
    </dgm:pt>
    <dgm:pt modelId="{12ED38CE-311E-47F7-B3E4-528E2EF462EF}">
      <dgm:prSet phldr="0"/>
      <dgm:spPr/>
      <dgm:t>
        <a:bodyPr/>
        <a:lstStyle/>
        <a:p>
          <a:pPr rtl="0"/>
          <a:r>
            <a:rPr lang="en-US" b="1">
              <a:latin typeface="Calibri Light" panose="020F0302020204030204"/>
            </a:rPr>
            <a:t>Random Forest Regression Model</a:t>
          </a:r>
          <a:endParaRPr lang="en-IN" b="1">
            <a:latin typeface="Calibri Light" panose="020F0302020204030204"/>
          </a:endParaRPr>
        </a:p>
      </dgm:t>
    </dgm:pt>
    <dgm:pt modelId="{640F5169-B3DA-4273-B1C0-52B1A805D80B}" type="parTrans" cxnId="{67730EED-E630-4C11-B18B-AD1146C2DBBC}">
      <dgm:prSet/>
      <dgm:spPr/>
    </dgm:pt>
    <dgm:pt modelId="{B1658ED0-1F0B-4BE2-B706-910A64B0D507}" type="sibTrans" cxnId="{67730EED-E630-4C11-B18B-AD1146C2DBBC}">
      <dgm:prSet/>
      <dgm:spPr/>
    </dgm:pt>
    <dgm:pt modelId="{DAA2B770-BF29-453D-A5E0-E42DD389C098}" type="pres">
      <dgm:prSet presAssocID="{5CA7544F-45B6-4D4A-81B4-63D2464E3952}" presName="linearFlow" presStyleCnt="0">
        <dgm:presLayoutVars>
          <dgm:dir/>
          <dgm:animLvl val="lvl"/>
          <dgm:resizeHandles val="exact"/>
        </dgm:presLayoutVars>
      </dgm:prSet>
      <dgm:spPr/>
    </dgm:pt>
    <dgm:pt modelId="{ED148DCF-E2D8-4F7E-9986-FB90AAF4C34D}" type="pres">
      <dgm:prSet presAssocID="{3C1F0DFA-A913-470F-8094-C95ECDDA680B}" presName="composite" presStyleCnt="0"/>
      <dgm:spPr/>
    </dgm:pt>
    <dgm:pt modelId="{869D1578-7626-4C51-A2E8-4633D384B273}" type="pres">
      <dgm:prSet presAssocID="{3C1F0DFA-A913-470F-8094-C95ECDDA680B}" presName="parentText" presStyleLbl="alignNode1" presStyleIdx="0" presStyleCnt="2">
        <dgm:presLayoutVars>
          <dgm:chMax val="1"/>
          <dgm:bulletEnabled val="1"/>
        </dgm:presLayoutVars>
      </dgm:prSet>
      <dgm:spPr/>
    </dgm:pt>
    <dgm:pt modelId="{531A40E3-E59E-46DD-A06F-5274A257AB04}" type="pres">
      <dgm:prSet presAssocID="{3C1F0DFA-A913-470F-8094-C95ECDDA680B}" presName="descendantText" presStyleLbl="alignAcc1" presStyleIdx="0" presStyleCnt="2">
        <dgm:presLayoutVars>
          <dgm:bulletEnabled val="1"/>
        </dgm:presLayoutVars>
      </dgm:prSet>
      <dgm:spPr/>
    </dgm:pt>
    <dgm:pt modelId="{528EC36A-1DD2-46A7-A75F-FD4235BCD521}" type="pres">
      <dgm:prSet presAssocID="{35CD09A1-CFFC-4A36-ABD5-4249E734DF5B}" presName="sp" presStyleCnt="0"/>
      <dgm:spPr/>
    </dgm:pt>
    <dgm:pt modelId="{8A7CA30A-5053-4C51-B3D0-586A81BE656A}" type="pres">
      <dgm:prSet presAssocID="{EEB7F7C3-0086-4573-B568-1AD8A830D77F}" presName="composite" presStyleCnt="0"/>
      <dgm:spPr/>
    </dgm:pt>
    <dgm:pt modelId="{7685473B-A62A-4A3E-ACE7-118AAC74DC58}" type="pres">
      <dgm:prSet presAssocID="{EEB7F7C3-0086-4573-B568-1AD8A830D77F}" presName="parentText" presStyleLbl="alignNode1" presStyleIdx="1" presStyleCnt="2">
        <dgm:presLayoutVars>
          <dgm:chMax val="1"/>
          <dgm:bulletEnabled val="1"/>
        </dgm:presLayoutVars>
      </dgm:prSet>
      <dgm:spPr/>
    </dgm:pt>
    <dgm:pt modelId="{A798BAD8-D43F-4857-B0DC-0E53BD476926}" type="pres">
      <dgm:prSet presAssocID="{EEB7F7C3-0086-4573-B568-1AD8A830D77F}" presName="descendantText" presStyleLbl="alignAcc1" presStyleIdx="1" presStyleCnt="2" custScaleY="109763" custLinFactNeighborX="-101" custLinFactNeighborY="4416">
        <dgm:presLayoutVars>
          <dgm:bulletEnabled val="1"/>
        </dgm:presLayoutVars>
      </dgm:prSet>
      <dgm:spPr/>
    </dgm:pt>
  </dgm:ptLst>
  <dgm:cxnLst>
    <dgm:cxn modelId="{2BA2AD51-5D22-49EB-9851-11881082BEEE}" type="presOf" srcId="{EEB7F7C3-0086-4573-B568-1AD8A830D77F}" destId="{7685473B-A62A-4A3E-ACE7-118AAC74DC58}" srcOrd="0" destOrd="0" presId="urn:microsoft.com/office/officeart/2005/8/layout/chevron2"/>
    <dgm:cxn modelId="{1AE96775-1678-40C0-926F-A7821C90C4C1}" type="presOf" srcId="{15BEBCEC-A61C-44BB-8D8D-2FD4B4ABA693}" destId="{531A40E3-E59E-46DD-A06F-5274A257AB04}" srcOrd="0" destOrd="0" presId="urn:microsoft.com/office/officeart/2005/8/layout/chevron2"/>
    <dgm:cxn modelId="{859B9580-2042-4A0C-BB44-FDFB1FDA5F07}" type="presOf" srcId="{5CA7544F-45B6-4D4A-81B4-63D2464E3952}" destId="{DAA2B770-BF29-453D-A5E0-E42DD389C098}" srcOrd="0" destOrd="0" presId="urn:microsoft.com/office/officeart/2005/8/layout/chevron2"/>
    <dgm:cxn modelId="{58226388-E001-4D5E-8F9D-0037E4BCBEE1}" srcId="{5CA7544F-45B6-4D4A-81B4-63D2464E3952}" destId="{3C1F0DFA-A913-470F-8094-C95ECDDA680B}" srcOrd="0" destOrd="0" parTransId="{2B1EC611-8B88-48C0-BD8E-180D599F057F}" sibTransId="{35CD09A1-CFFC-4A36-ABD5-4249E734DF5B}"/>
    <dgm:cxn modelId="{27D77EBA-6364-47DF-B189-FE926FB8D478}" srcId="{5CA7544F-45B6-4D4A-81B4-63D2464E3952}" destId="{EEB7F7C3-0086-4573-B568-1AD8A830D77F}" srcOrd="1" destOrd="0" parTransId="{D44B65A9-7FAB-44A1-A0A3-1716A3680FD7}" sibTransId="{A3CF3C96-F34B-48E6-82A2-10E6BD12D234}"/>
    <dgm:cxn modelId="{EAF04BDD-0803-462B-9BA8-88F408BE8A83}" type="presOf" srcId="{12ED38CE-311E-47F7-B3E4-528E2EF462EF}" destId="{A798BAD8-D43F-4857-B0DC-0E53BD476926}" srcOrd="0" destOrd="0" presId="urn:microsoft.com/office/officeart/2005/8/layout/chevron2"/>
    <dgm:cxn modelId="{17CD99E7-019D-434E-95BD-B123309F7DE8}" srcId="{3C1F0DFA-A913-470F-8094-C95ECDDA680B}" destId="{15BEBCEC-A61C-44BB-8D8D-2FD4B4ABA693}" srcOrd="0" destOrd="0" parTransId="{436BC7EF-A506-45CF-B79B-87F5E3BE2FA8}" sibTransId="{23D8EBC1-C614-4F43-9F0E-2DE3AE72C910}"/>
    <dgm:cxn modelId="{67730EED-E630-4C11-B18B-AD1146C2DBBC}" srcId="{EEB7F7C3-0086-4573-B568-1AD8A830D77F}" destId="{12ED38CE-311E-47F7-B3E4-528E2EF462EF}" srcOrd="0" destOrd="0" parTransId="{640F5169-B3DA-4273-B1C0-52B1A805D80B}" sibTransId="{B1658ED0-1F0B-4BE2-B706-910A64B0D507}"/>
    <dgm:cxn modelId="{69B27BFB-6CE1-456C-A7D4-72522DC3C29F}" type="presOf" srcId="{3C1F0DFA-A913-470F-8094-C95ECDDA680B}" destId="{869D1578-7626-4C51-A2E8-4633D384B273}" srcOrd="0" destOrd="0" presId="urn:microsoft.com/office/officeart/2005/8/layout/chevron2"/>
    <dgm:cxn modelId="{3754AC79-F0CA-4222-AEC0-2644045E5375}" type="presParOf" srcId="{DAA2B770-BF29-453D-A5E0-E42DD389C098}" destId="{ED148DCF-E2D8-4F7E-9986-FB90AAF4C34D}" srcOrd="0" destOrd="0" presId="urn:microsoft.com/office/officeart/2005/8/layout/chevron2"/>
    <dgm:cxn modelId="{C9EB5F1E-3284-4BBF-8A0F-7772A6249AEC}" type="presParOf" srcId="{ED148DCF-E2D8-4F7E-9986-FB90AAF4C34D}" destId="{869D1578-7626-4C51-A2E8-4633D384B273}" srcOrd="0" destOrd="0" presId="urn:microsoft.com/office/officeart/2005/8/layout/chevron2"/>
    <dgm:cxn modelId="{D02850FB-E6B4-4238-8CDA-047B8038E03C}" type="presParOf" srcId="{ED148DCF-E2D8-4F7E-9986-FB90AAF4C34D}" destId="{531A40E3-E59E-46DD-A06F-5274A257AB04}" srcOrd="1" destOrd="0" presId="urn:microsoft.com/office/officeart/2005/8/layout/chevron2"/>
    <dgm:cxn modelId="{1CC1F14F-E105-449B-A279-F07F29766CFE}" type="presParOf" srcId="{DAA2B770-BF29-453D-A5E0-E42DD389C098}" destId="{528EC36A-1DD2-46A7-A75F-FD4235BCD521}" srcOrd="1" destOrd="0" presId="urn:microsoft.com/office/officeart/2005/8/layout/chevron2"/>
    <dgm:cxn modelId="{DFFEEA7E-FA75-46BE-96BE-45C7783FFF28}" type="presParOf" srcId="{DAA2B770-BF29-453D-A5E0-E42DD389C098}" destId="{8A7CA30A-5053-4C51-B3D0-586A81BE656A}" srcOrd="2" destOrd="0" presId="urn:microsoft.com/office/officeart/2005/8/layout/chevron2"/>
    <dgm:cxn modelId="{67A26CD9-A0D9-4CC7-8309-C14D2294CCD7}" type="presParOf" srcId="{8A7CA30A-5053-4C51-B3D0-586A81BE656A}" destId="{7685473B-A62A-4A3E-ACE7-118AAC74DC58}" srcOrd="0" destOrd="0" presId="urn:microsoft.com/office/officeart/2005/8/layout/chevron2"/>
    <dgm:cxn modelId="{06DBCEC3-8C9A-4CF4-B4F5-01CA6C271A1C}" type="presParOf" srcId="{8A7CA30A-5053-4C51-B3D0-586A81BE656A}" destId="{A798BAD8-D43F-4857-B0DC-0E53BD47692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9D1578-7626-4C51-A2E8-4633D384B273}">
      <dsp:nvSpPr>
        <dsp:cNvPr id="0" name=""/>
        <dsp:cNvSpPr/>
      </dsp:nvSpPr>
      <dsp:spPr>
        <a:xfrm rot="5400000">
          <a:off x="-226070" y="228319"/>
          <a:ext cx="1507139" cy="1054997"/>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a:t>1.</a:t>
          </a:r>
          <a:endParaRPr lang="en-IN" sz="2900" kern="1200"/>
        </a:p>
      </dsp:txBody>
      <dsp:txXfrm rot="-5400000">
        <a:off x="2" y="529747"/>
        <a:ext cx="1054997" cy="452142"/>
      </dsp:txXfrm>
    </dsp:sp>
    <dsp:sp modelId="{531A40E3-E59E-46DD-A06F-5274A257AB04}">
      <dsp:nvSpPr>
        <dsp:cNvPr id="0" name=""/>
        <dsp:cNvSpPr/>
      </dsp:nvSpPr>
      <dsp:spPr>
        <a:xfrm rot="5400000">
          <a:off x="3941696" y="-2884450"/>
          <a:ext cx="979640" cy="6753038"/>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en-US" sz="3500" kern="1200"/>
            <a:t>Gaussian Ridge Regression Model</a:t>
          </a:r>
          <a:endParaRPr lang="en-IN" sz="3500" kern="1200"/>
        </a:p>
      </dsp:txBody>
      <dsp:txXfrm rot="-5400000">
        <a:off x="1054997" y="50071"/>
        <a:ext cx="6705216" cy="883996"/>
      </dsp:txXfrm>
    </dsp:sp>
    <dsp:sp modelId="{7685473B-A62A-4A3E-ACE7-118AAC74DC58}">
      <dsp:nvSpPr>
        <dsp:cNvPr id="0" name=""/>
        <dsp:cNvSpPr/>
      </dsp:nvSpPr>
      <dsp:spPr>
        <a:xfrm rot="5400000">
          <a:off x="-226070" y="1492422"/>
          <a:ext cx="1507139" cy="1054997"/>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a:t>2.</a:t>
          </a:r>
          <a:endParaRPr lang="en-IN" sz="2900" kern="1200"/>
        </a:p>
      </dsp:txBody>
      <dsp:txXfrm rot="-5400000">
        <a:off x="2" y="1793850"/>
        <a:ext cx="1054997" cy="452142"/>
      </dsp:txXfrm>
    </dsp:sp>
    <dsp:sp modelId="{A798BAD8-D43F-4857-B0DC-0E53BD476926}">
      <dsp:nvSpPr>
        <dsp:cNvPr id="0" name=""/>
        <dsp:cNvSpPr/>
      </dsp:nvSpPr>
      <dsp:spPr>
        <a:xfrm rot="5400000">
          <a:off x="3887054" y="-1577086"/>
          <a:ext cx="1075283" cy="6753038"/>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rtl="0">
            <a:lnSpc>
              <a:spcPct val="90000"/>
            </a:lnSpc>
            <a:spcBef>
              <a:spcPct val="0"/>
            </a:spcBef>
            <a:spcAft>
              <a:spcPct val="15000"/>
            </a:spcAft>
            <a:buChar char="•"/>
          </a:pPr>
          <a:r>
            <a:rPr lang="en-US" sz="3500" b="1" kern="1200">
              <a:latin typeface="Calibri Light" panose="020F0302020204030204"/>
            </a:rPr>
            <a:t>Random Forest Regression Model</a:t>
          </a:r>
          <a:endParaRPr lang="en-IN" sz="3500" b="1" kern="1200">
            <a:latin typeface="Calibri Light" panose="020F0302020204030204"/>
          </a:endParaRPr>
        </a:p>
      </dsp:txBody>
      <dsp:txXfrm rot="-5400000">
        <a:off x="1048177" y="1314282"/>
        <a:ext cx="6700547" cy="97030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903C64-8302-414D-882B-A92430A646A6}" type="datetimeFigureOut">
              <a:rPr lang="en-IN" smtClean="0"/>
              <a:t>13-06-2026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6606B-DAF9-48DA-AE7C-8FE0E3122F00}" type="slidenum">
              <a:rPr lang="en-IN" smtClean="0"/>
              <a:t>‹#›</a:t>
            </a:fld>
            <a:endParaRPr lang="en-IN"/>
          </a:p>
        </p:txBody>
      </p:sp>
    </p:spTree>
    <p:extLst>
      <p:ext uri="{BB962C8B-B14F-4D97-AF65-F5344CB8AC3E}">
        <p14:creationId xmlns:p14="http://schemas.microsoft.com/office/powerpoint/2010/main" val="3964855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03BE2-0D09-74CD-65B9-0F06E5C6F7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0E3FE8-7DB5-D012-4EA3-F38D84CC55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EF2DA3-7487-888A-436A-037D9F8505AB}"/>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5" name="Footer Placeholder 4">
            <a:extLst>
              <a:ext uri="{FF2B5EF4-FFF2-40B4-BE49-F238E27FC236}">
                <a16:creationId xmlns:a16="http://schemas.microsoft.com/office/drawing/2014/main" id="{FD50EAEF-52B7-D8C3-3B48-905FE22C99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BCF5B4-F73E-7962-036E-4BBC6D6D8BCC}"/>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909807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CA18-8E01-33C5-8C7C-76CD7E7CF4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DA08CF-B985-0B12-3100-F2D38FCC05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0F36A-1FC3-7C46-137D-D2D8C9293833}"/>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5" name="Footer Placeholder 4">
            <a:extLst>
              <a:ext uri="{FF2B5EF4-FFF2-40B4-BE49-F238E27FC236}">
                <a16:creationId xmlns:a16="http://schemas.microsoft.com/office/drawing/2014/main" id="{F2E39B87-82D2-6E69-AD5D-0C57A04C7F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B9B4E5-09B8-94D7-D01E-451256305435}"/>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1240551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6B29-2839-5330-3924-EDC918F367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64674C-78FF-C316-0248-07C2437814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89F98E-A77D-0AB1-A030-B9460E51AB8D}"/>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5" name="Footer Placeholder 4">
            <a:extLst>
              <a:ext uri="{FF2B5EF4-FFF2-40B4-BE49-F238E27FC236}">
                <a16:creationId xmlns:a16="http://schemas.microsoft.com/office/drawing/2014/main" id="{A4561603-4CE1-35ED-42DF-02C2314EFC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51AB60-AAE4-4E46-B9F0-D4B59E02C5A0}"/>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2203916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4D6D1-B7A0-7E1C-616F-7F1DD6AA37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058504-8B1C-71A0-283A-CF111E7BDC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23F8A0-1A11-4F54-8013-8257ECDB5D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F5B08F-EF46-4F67-D8F5-926F6A1AC126}"/>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6" name="Footer Placeholder 5">
            <a:extLst>
              <a:ext uri="{FF2B5EF4-FFF2-40B4-BE49-F238E27FC236}">
                <a16:creationId xmlns:a16="http://schemas.microsoft.com/office/drawing/2014/main" id="{1D48A4F9-D254-31C2-39F2-C51625C135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EA26BF-968E-B0FD-91BE-8BB66C3E927B}"/>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1596499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4EC0C-66AF-25C4-EDB0-1DFB973E86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A8E91D-7BE8-9E92-664D-B062880128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3C4E63-05CC-8EC2-E7AD-9004E62678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DF4786-7AC3-8D2B-1367-2DC20462B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AB1D56-03A5-F23D-9999-5740D6068D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D17899-4524-046D-B371-219D45C1AAF1}"/>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8" name="Footer Placeholder 7">
            <a:extLst>
              <a:ext uri="{FF2B5EF4-FFF2-40B4-BE49-F238E27FC236}">
                <a16:creationId xmlns:a16="http://schemas.microsoft.com/office/drawing/2014/main" id="{7FAA4885-F0A8-15B6-C259-B856CCBD96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E91904-BD4E-237F-99CF-EC129D61E335}"/>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38273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8A659-16B6-64DF-0C15-B5746EC9AA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C4714D-5F92-4612-D917-1403A766C3A1}"/>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4" name="Footer Placeholder 3">
            <a:extLst>
              <a:ext uri="{FF2B5EF4-FFF2-40B4-BE49-F238E27FC236}">
                <a16:creationId xmlns:a16="http://schemas.microsoft.com/office/drawing/2014/main" id="{E7752600-3596-D4F2-CA25-B78CA4122D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1A114E-97F0-67FF-41F9-EBA1F62795D9}"/>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909713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C2D3FA-2349-B815-DECD-601BD8CA62B6}"/>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3" name="Footer Placeholder 2">
            <a:extLst>
              <a:ext uri="{FF2B5EF4-FFF2-40B4-BE49-F238E27FC236}">
                <a16:creationId xmlns:a16="http://schemas.microsoft.com/office/drawing/2014/main" id="{8B49A7C9-3DB5-A53E-010A-05892E86B0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491592-8887-3C51-B900-6E4738FC422A}"/>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1513217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B25D5-39A0-92F6-DD18-6D43DF7E75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73FF5F-A8AD-D91C-E546-7514532B42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693481-B7E1-55C2-968F-DDB13EB88A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9F98C4-60C7-3488-C4DC-6814BBAF7446}"/>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6" name="Footer Placeholder 5">
            <a:extLst>
              <a:ext uri="{FF2B5EF4-FFF2-40B4-BE49-F238E27FC236}">
                <a16:creationId xmlns:a16="http://schemas.microsoft.com/office/drawing/2014/main" id="{5F4268FA-8D27-700C-422A-36CF21BE08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996282-7DD7-419A-4D74-2B8D50C96893}"/>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2191618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6CAE-3631-834E-98D7-38BDB50A36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3017FB-3A47-C94E-1F0D-440FCFB1EF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9539E0-8EC7-FE87-5E65-164870737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C09968-0E9F-5E8A-A40C-77A678A466F2}"/>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6" name="Footer Placeholder 5">
            <a:extLst>
              <a:ext uri="{FF2B5EF4-FFF2-40B4-BE49-F238E27FC236}">
                <a16:creationId xmlns:a16="http://schemas.microsoft.com/office/drawing/2014/main" id="{96075865-9D54-78FF-E5E0-9F81553DD8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C68897-4EB4-6B95-02F4-176EE40C849A}"/>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2336548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D7D5D-B60E-769C-902A-35DC5FB1915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49846B-D979-8598-6FAE-BD351CDAE3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3BB625-8BE1-A8E4-8C2D-ADEAE9B9A249}"/>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5" name="Footer Placeholder 4">
            <a:extLst>
              <a:ext uri="{FF2B5EF4-FFF2-40B4-BE49-F238E27FC236}">
                <a16:creationId xmlns:a16="http://schemas.microsoft.com/office/drawing/2014/main" id="{614D7EB4-2FF2-CC98-9274-555B38733A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855C88-CCF0-AF63-0C84-D80655AAA183}"/>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3609024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6E7CA2-4660-EA59-1EF6-4E309AE7A9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5ADDA0-D653-0CFF-FEC9-A6A27F33DC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1BD85-ED0E-14F6-B366-67745F5C9472}"/>
              </a:ext>
            </a:extLst>
          </p:cNvPr>
          <p:cNvSpPr>
            <a:spLocks noGrp="1"/>
          </p:cNvSpPr>
          <p:nvPr>
            <p:ph type="dt" sz="half" idx="10"/>
          </p:nvPr>
        </p:nvSpPr>
        <p:spPr/>
        <p:txBody>
          <a:bodyPr/>
          <a:lstStyle/>
          <a:p>
            <a:fld id="{8EDBDFAC-BA76-465E-8BA2-64E76BFB655B}" type="datetimeFigureOut">
              <a:rPr lang="en-IN" smtClean="0"/>
              <a:t>13-06-2026</a:t>
            </a:fld>
            <a:endParaRPr lang="en-IN"/>
          </a:p>
        </p:txBody>
      </p:sp>
      <p:sp>
        <p:nvSpPr>
          <p:cNvPr id="5" name="Footer Placeholder 4">
            <a:extLst>
              <a:ext uri="{FF2B5EF4-FFF2-40B4-BE49-F238E27FC236}">
                <a16:creationId xmlns:a16="http://schemas.microsoft.com/office/drawing/2014/main" id="{10BD8ED2-35BE-7E80-94BB-EF8E2D50E5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B02CAF-FFCE-F065-A59D-A56928CB8D7E}"/>
              </a:ext>
            </a:extLst>
          </p:cNvPr>
          <p:cNvSpPr>
            <a:spLocks noGrp="1"/>
          </p:cNvSpPr>
          <p:nvPr>
            <p:ph type="sldNum" sz="quarter" idx="12"/>
          </p:nvPr>
        </p:nvSpPr>
        <p:spPr/>
        <p:txBody>
          <a:bodyPr/>
          <a:lstStyle/>
          <a:p>
            <a:fld id="{13F8268A-42BD-40F1-B2C0-B365CADAB2BC}" type="slidenum">
              <a:rPr lang="en-IN" smtClean="0"/>
              <a:t>‹#›</a:t>
            </a:fld>
            <a:endParaRPr lang="en-IN"/>
          </a:p>
        </p:txBody>
      </p:sp>
    </p:spTree>
    <p:extLst>
      <p:ext uri="{BB962C8B-B14F-4D97-AF65-F5344CB8AC3E}">
        <p14:creationId xmlns:p14="http://schemas.microsoft.com/office/powerpoint/2010/main" val="2741445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9B58D8-D370-9706-B40B-53D5140A8C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3E0307-BAE0-DC37-053A-2106789A7D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03E626-C4C1-BAD2-9B80-8E649AA072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DBDFAC-BA76-465E-8BA2-64E76BFB655B}" type="datetimeFigureOut">
              <a:rPr lang="en-IN" smtClean="0"/>
              <a:t>13-06-2026</a:t>
            </a:fld>
            <a:endParaRPr lang="en-IN"/>
          </a:p>
        </p:txBody>
      </p:sp>
      <p:sp>
        <p:nvSpPr>
          <p:cNvPr id="5" name="Footer Placeholder 4">
            <a:extLst>
              <a:ext uri="{FF2B5EF4-FFF2-40B4-BE49-F238E27FC236}">
                <a16:creationId xmlns:a16="http://schemas.microsoft.com/office/drawing/2014/main" id="{ED8DC396-F51C-5852-2D90-37492E3E5E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B636FA4-0E5A-A9BD-E710-A778EB6129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F8268A-42BD-40F1-B2C0-B365CADAB2BC}" type="slidenum">
              <a:rPr lang="en-IN" smtClean="0"/>
              <a:t>‹#›</a:t>
            </a:fld>
            <a:endParaRPr lang="en-IN"/>
          </a:p>
        </p:txBody>
      </p:sp>
    </p:spTree>
    <p:extLst>
      <p:ext uri="{BB962C8B-B14F-4D97-AF65-F5344CB8AC3E}">
        <p14:creationId xmlns:p14="http://schemas.microsoft.com/office/powerpoint/2010/main" val="3155672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F288-CF26-BBE9-8FB3-DD0DD42710B2}"/>
              </a:ext>
            </a:extLst>
          </p:cNvPr>
          <p:cNvSpPr>
            <a:spLocks noGrp="1"/>
          </p:cNvSpPr>
          <p:nvPr>
            <p:ph type="ctrTitle"/>
          </p:nvPr>
        </p:nvSpPr>
        <p:spPr>
          <a:xfrm>
            <a:off x="6264321" y="784746"/>
            <a:ext cx="5677469" cy="1344305"/>
          </a:xfrm>
        </p:spPr>
        <p:txBody>
          <a:bodyPr>
            <a:normAutofit/>
          </a:bodyPr>
          <a:lstStyle/>
          <a:p>
            <a:pPr algn="l"/>
            <a:r>
              <a:rPr lang="en-US" sz="4400" b="1"/>
              <a:t>Forecasting Crop Yields Using Statistical Models</a:t>
            </a:r>
            <a:endParaRPr lang="en-IN" sz="4400" b="1"/>
          </a:p>
        </p:txBody>
      </p:sp>
      <p:sp>
        <p:nvSpPr>
          <p:cNvPr id="3" name="Subtitle 2">
            <a:extLst>
              <a:ext uri="{FF2B5EF4-FFF2-40B4-BE49-F238E27FC236}">
                <a16:creationId xmlns:a16="http://schemas.microsoft.com/office/drawing/2014/main" id="{F7CAB6D6-47D3-68D2-69B1-8FD6DE092712}"/>
              </a:ext>
            </a:extLst>
          </p:cNvPr>
          <p:cNvSpPr>
            <a:spLocks noGrp="1"/>
          </p:cNvSpPr>
          <p:nvPr>
            <p:ph type="subTitle" idx="1"/>
          </p:nvPr>
        </p:nvSpPr>
        <p:spPr>
          <a:xfrm>
            <a:off x="6414447" y="3049303"/>
            <a:ext cx="4499212" cy="2969360"/>
          </a:xfrm>
        </p:spPr>
        <p:txBody>
          <a:bodyPr/>
          <a:lstStyle/>
          <a:p>
            <a:pPr algn="l"/>
            <a:r>
              <a:rPr lang="en-US"/>
              <a:t>Adity Banerjee (BS2304)</a:t>
            </a:r>
          </a:p>
          <a:p>
            <a:pPr algn="l"/>
            <a:r>
              <a:rPr lang="en-US"/>
              <a:t>Akanksha Das (BS2307)</a:t>
            </a:r>
          </a:p>
          <a:p>
            <a:pPr algn="l"/>
            <a:r>
              <a:rPr lang="en-US"/>
              <a:t>Mayank Mitra (BS2331)</a:t>
            </a:r>
          </a:p>
          <a:p>
            <a:pPr algn="l"/>
            <a:r>
              <a:rPr lang="en-US"/>
              <a:t>Rahul Ganguly (BS2337)</a:t>
            </a:r>
          </a:p>
          <a:p>
            <a:pPr algn="l"/>
            <a:r>
              <a:rPr lang="en-US"/>
              <a:t>Sohan Karmakar (BS2349)</a:t>
            </a:r>
          </a:p>
          <a:p>
            <a:pPr algn="l"/>
            <a:r>
              <a:rPr lang="en-US"/>
              <a:t>Unnati Mandal (BS2355)</a:t>
            </a:r>
          </a:p>
          <a:p>
            <a:endParaRPr lang="en-IN"/>
          </a:p>
        </p:txBody>
      </p:sp>
      <p:pic>
        <p:nvPicPr>
          <p:cNvPr id="5" name="Picture 4">
            <a:extLst>
              <a:ext uri="{FF2B5EF4-FFF2-40B4-BE49-F238E27FC236}">
                <a16:creationId xmlns:a16="http://schemas.microsoft.com/office/drawing/2014/main" id="{8F75AFA9-C08F-DBF3-C3CB-1F3D829CE1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857999"/>
          </a:xfrm>
          <a:prstGeom prst="rect">
            <a:avLst/>
          </a:prstGeom>
        </p:spPr>
      </p:pic>
      <p:cxnSp>
        <p:nvCxnSpPr>
          <p:cNvPr id="7" name="Straight Connector 6">
            <a:extLst>
              <a:ext uri="{FF2B5EF4-FFF2-40B4-BE49-F238E27FC236}">
                <a16:creationId xmlns:a16="http://schemas.microsoft.com/office/drawing/2014/main" id="{407E5FEA-BCC7-A1BC-D2AD-2A2541BEF6C8}"/>
              </a:ext>
            </a:extLst>
          </p:cNvPr>
          <p:cNvCxnSpPr/>
          <p:nvPr/>
        </p:nvCxnSpPr>
        <p:spPr>
          <a:xfrm>
            <a:off x="6339384" y="2674961"/>
            <a:ext cx="5580000" cy="0"/>
          </a:xfrm>
          <a:prstGeom prst="line">
            <a:avLst/>
          </a:prstGeom>
          <a:ln>
            <a:solidFill>
              <a:schemeClr val="tx1"/>
            </a:solidFill>
          </a:ln>
          <a:scene3d>
            <a:camera prst="orthographicFront"/>
            <a:lightRig rig="threePt" dir="t"/>
          </a:scene3d>
          <a:sp3d>
            <a:bevelT prst="relaxedInset"/>
          </a:sp3d>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2413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0753-100D-C1BA-97A6-917C93CA7130}"/>
              </a:ext>
            </a:extLst>
          </p:cNvPr>
          <p:cNvSpPr>
            <a:spLocks noGrp="1"/>
          </p:cNvSpPr>
          <p:nvPr>
            <p:ph type="title"/>
          </p:nvPr>
        </p:nvSpPr>
        <p:spPr>
          <a:xfrm>
            <a:off x="838200" y="829102"/>
            <a:ext cx="10515600" cy="975359"/>
          </a:xfrm>
        </p:spPr>
        <p:txBody>
          <a:bodyPr/>
          <a:lstStyle/>
          <a:p>
            <a:r>
              <a:rPr lang="en-US" b="1" u="sng"/>
              <a:t>Data Exploration:</a:t>
            </a:r>
            <a:endParaRPr lang="en-IN" b="1" u="sng"/>
          </a:p>
        </p:txBody>
      </p:sp>
      <p:graphicFrame>
        <p:nvGraphicFramePr>
          <p:cNvPr id="4" name="Content Placeholder 3">
            <a:extLst>
              <a:ext uri="{FF2B5EF4-FFF2-40B4-BE49-F238E27FC236}">
                <a16:creationId xmlns:a16="http://schemas.microsoft.com/office/drawing/2014/main" id="{C320B6A4-C4E6-E5C8-374F-669906261EB8}"/>
              </a:ext>
            </a:extLst>
          </p:cNvPr>
          <p:cNvGraphicFramePr>
            <a:graphicFrameLocks noGrp="1"/>
          </p:cNvGraphicFramePr>
          <p:nvPr>
            <p:ph idx="1"/>
            <p:extLst>
              <p:ext uri="{D42A27DB-BD31-4B8C-83A1-F6EECF244321}">
                <p14:modId xmlns:p14="http://schemas.microsoft.com/office/powerpoint/2010/main" val="1622913650"/>
              </p:ext>
            </p:extLst>
          </p:nvPr>
        </p:nvGraphicFramePr>
        <p:xfrm>
          <a:off x="899615" y="2166468"/>
          <a:ext cx="10531725" cy="2263142"/>
        </p:xfrm>
        <a:graphic>
          <a:graphicData uri="http://schemas.openxmlformats.org/drawingml/2006/table">
            <a:tbl>
              <a:tblPr firstRow="1" bandRow="1">
                <a:tableStyleId>{93296810-A885-4BE3-A3E7-6D5BEEA58F35}</a:tableStyleId>
              </a:tblPr>
              <a:tblGrid>
                <a:gridCol w="929640">
                  <a:extLst>
                    <a:ext uri="{9D8B030D-6E8A-4147-A177-3AD203B41FA5}">
                      <a16:colId xmlns:a16="http://schemas.microsoft.com/office/drawing/2014/main" val="1395418102"/>
                    </a:ext>
                  </a:extLst>
                </a:gridCol>
                <a:gridCol w="1463040">
                  <a:extLst>
                    <a:ext uri="{9D8B030D-6E8A-4147-A177-3AD203B41FA5}">
                      <a16:colId xmlns:a16="http://schemas.microsoft.com/office/drawing/2014/main" val="1483028124"/>
                    </a:ext>
                  </a:extLst>
                </a:gridCol>
                <a:gridCol w="1127760">
                  <a:extLst>
                    <a:ext uri="{9D8B030D-6E8A-4147-A177-3AD203B41FA5}">
                      <a16:colId xmlns:a16="http://schemas.microsoft.com/office/drawing/2014/main" val="3782881342"/>
                    </a:ext>
                  </a:extLst>
                </a:gridCol>
                <a:gridCol w="1859280">
                  <a:extLst>
                    <a:ext uri="{9D8B030D-6E8A-4147-A177-3AD203B41FA5}">
                      <a16:colId xmlns:a16="http://schemas.microsoft.com/office/drawing/2014/main" val="218548531"/>
                    </a:ext>
                  </a:extLst>
                </a:gridCol>
                <a:gridCol w="1547749">
                  <a:extLst>
                    <a:ext uri="{9D8B030D-6E8A-4147-A177-3AD203B41FA5}">
                      <a16:colId xmlns:a16="http://schemas.microsoft.com/office/drawing/2014/main" val="813140532"/>
                    </a:ext>
                  </a:extLst>
                </a:gridCol>
                <a:gridCol w="1859280">
                  <a:extLst>
                    <a:ext uri="{9D8B030D-6E8A-4147-A177-3AD203B41FA5}">
                      <a16:colId xmlns:a16="http://schemas.microsoft.com/office/drawing/2014/main" val="1009660162"/>
                    </a:ext>
                  </a:extLst>
                </a:gridCol>
                <a:gridCol w="1744976">
                  <a:extLst>
                    <a:ext uri="{9D8B030D-6E8A-4147-A177-3AD203B41FA5}">
                      <a16:colId xmlns:a16="http://schemas.microsoft.com/office/drawing/2014/main" val="1140379732"/>
                    </a:ext>
                  </a:extLst>
                </a:gridCol>
              </a:tblGrid>
              <a:tr h="688782">
                <a:tc>
                  <a:txBody>
                    <a:bodyPr/>
                    <a:lstStyle/>
                    <a:p>
                      <a:endParaRPr lang="en-IN"/>
                    </a:p>
                  </a:txBody>
                  <a:tcPr/>
                </a:tc>
                <a:tc>
                  <a:txBody>
                    <a:bodyPr/>
                    <a:lstStyle/>
                    <a:p>
                      <a:r>
                        <a:rPr lang="en-US"/>
                        <a:t>Rainfall (mm)</a:t>
                      </a:r>
                      <a:endParaRPr lang="en-IN"/>
                    </a:p>
                  </a:txBody>
                  <a:tcPr/>
                </a:tc>
                <a:tc>
                  <a:txBody>
                    <a:bodyPr/>
                    <a:lstStyle/>
                    <a:p>
                      <a:r>
                        <a:rPr lang="en-US"/>
                        <a:t>Avg Temp </a:t>
                      </a:r>
                      <a:endParaRPr lang="en-IN"/>
                    </a:p>
                  </a:txBody>
                  <a:tcPr/>
                </a:tc>
                <a:tc>
                  <a:txBody>
                    <a:bodyPr/>
                    <a:lstStyle/>
                    <a:p>
                      <a:r>
                        <a:rPr lang="en-US"/>
                        <a:t>Fertilizer (kg/ha)</a:t>
                      </a:r>
                      <a:endParaRPr lang="en-IN"/>
                    </a:p>
                  </a:txBody>
                  <a:tcPr/>
                </a:tc>
                <a:tc>
                  <a:txBody>
                    <a:bodyPr/>
                    <a:lstStyle/>
                    <a:p>
                      <a:r>
                        <a:rPr lang="en-US"/>
                        <a:t>Pest Incidents</a:t>
                      </a:r>
                      <a:endParaRPr lang="en-IN"/>
                    </a:p>
                  </a:txBody>
                  <a:tcPr/>
                </a:tc>
                <a:tc>
                  <a:txBody>
                    <a:bodyPr/>
                    <a:lstStyle/>
                    <a:p>
                      <a:r>
                        <a:rPr lang="en-US"/>
                        <a:t>Technology Index</a:t>
                      </a:r>
                      <a:endParaRPr lang="en-IN"/>
                    </a:p>
                  </a:txBody>
                  <a:tcPr/>
                </a:tc>
                <a:tc>
                  <a:txBody>
                    <a:bodyPr/>
                    <a:lstStyle/>
                    <a:p>
                      <a:r>
                        <a:rPr lang="en-US"/>
                        <a:t>Crop Yield (ton/ha)</a:t>
                      </a:r>
                      <a:endParaRPr lang="en-IN"/>
                    </a:p>
                  </a:txBody>
                  <a:tcPr/>
                </a:tc>
                <a:extLst>
                  <a:ext uri="{0D108BD9-81ED-4DB2-BD59-A6C34878D82A}">
                    <a16:rowId xmlns:a16="http://schemas.microsoft.com/office/drawing/2014/main" val="2762612377"/>
                  </a:ext>
                </a:extLst>
              </a:tr>
              <a:tr h="393590">
                <a:tc>
                  <a:txBody>
                    <a:bodyPr/>
                    <a:lstStyle/>
                    <a:p>
                      <a:r>
                        <a:rPr lang="en-US"/>
                        <a:t>Mean</a:t>
                      </a:r>
                      <a:endParaRPr lang="en-IN"/>
                    </a:p>
                  </a:txBody>
                  <a:tcPr/>
                </a:tc>
                <a:tc>
                  <a:txBody>
                    <a:bodyPr/>
                    <a:lstStyle/>
                    <a:p>
                      <a:r>
                        <a:rPr lang="en-US"/>
                        <a:t>1132.278</a:t>
                      </a:r>
                      <a:endParaRPr lang="en-IN"/>
                    </a:p>
                  </a:txBody>
                  <a:tcPr/>
                </a:tc>
                <a:tc>
                  <a:txBody>
                    <a:bodyPr/>
                    <a:lstStyle/>
                    <a:p>
                      <a:r>
                        <a:rPr lang="en-US"/>
                        <a:t>27.184</a:t>
                      </a:r>
                      <a:endParaRPr lang="en-IN"/>
                    </a:p>
                  </a:txBody>
                  <a:tcPr/>
                </a:tc>
                <a:tc>
                  <a:txBody>
                    <a:bodyPr/>
                    <a:lstStyle/>
                    <a:p>
                      <a:r>
                        <a:rPr lang="en-US"/>
                        <a:t>240.4024</a:t>
                      </a:r>
                      <a:endParaRPr lang="en-IN"/>
                    </a:p>
                  </a:txBody>
                  <a:tcPr/>
                </a:tc>
                <a:tc>
                  <a:txBody>
                    <a:bodyPr/>
                    <a:lstStyle/>
                    <a:p>
                      <a:r>
                        <a:rPr lang="en-US"/>
                        <a:t>3.12</a:t>
                      </a:r>
                      <a:endParaRPr lang="en-IN"/>
                    </a:p>
                  </a:txBody>
                  <a:tcPr/>
                </a:tc>
                <a:tc>
                  <a:txBody>
                    <a:bodyPr/>
                    <a:lstStyle/>
                    <a:p>
                      <a:r>
                        <a:rPr lang="en-US"/>
                        <a:t>67.1704</a:t>
                      </a:r>
                      <a:endParaRPr lang="en-IN"/>
                    </a:p>
                  </a:txBody>
                  <a:tcPr/>
                </a:tc>
                <a:tc>
                  <a:txBody>
                    <a:bodyPr/>
                    <a:lstStyle/>
                    <a:p>
                      <a:r>
                        <a:rPr lang="en-US"/>
                        <a:t>6.6584</a:t>
                      </a:r>
                      <a:endParaRPr lang="en-IN"/>
                    </a:p>
                  </a:txBody>
                  <a:tcPr/>
                </a:tc>
                <a:extLst>
                  <a:ext uri="{0D108BD9-81ED-4DB2-BD59-A6C34878D82A}">
                    <a16:rowId xmlns:a16="http://schemas.microsoft.com/office/drawing/2014/main" val="1638236081"/>
                  </a:ext>
                </a:extLst>
              </a:tr>
              <a:tr h="393590">
                <a:tc>
                  <a:txBody>
                    <a:bodyPr/>
                    <a:lstStyle/>
                    <a:p>
                      <a:r>
                        <a:rPr lang="en-US"/>
                        <a:t>Median</a:t>
                      </a:r>
                      <a:endParaRPr lang="en-IN"/>
                    </a:p>
                  </a:txBody>
                  <a:tcPr/>
                </a:tc>
                <a:tc>
                  <a:txBody>
                    <a:bodyPr/>
                    <a:lstStyle/>
                    <a:p>
                      <a:r>
                        <a:rPr lang="en-US"/>
                        <a:t>1189.57</a:t>
                      </a:r>
                      <a:endParaRPr lang="en-IN"/>
                    </a:p>
                  </a:txBody>
                  <a:tcPr/>
                </a:tc>
                <a:tc>
                  <a:txBody>
                    <a:bodyPr/>
                    <a:lstStyle/>
                    <a:p>
                      <a:r>
                        <a:rPr lang="en-US"/>
                        <a:t>26.55</a:t>
                      </a:r>
                      <a:endParaRPr lang="en-IN"/>
                    </a:p>
                  </a:txBody>
                  <a:tcPr/>
                </a:tc>
                <a:tc>
                  <a:txBody>
                    <a:bodyPr/>
                    <a:lstStyle/>
                    <a:p>
                      <a:r>
                        <a:rPr lang="en-US"/>
                        <a:t>265.81</a:t>
                      </a:r>
                      <a:endParaRPr lang="en-IN"/>
                    </a:p>
                  </a:txBody>
                  <a:tcPr/>
                </a:tc>
                <a:tc>
                  <a:txBody>
                    <a:bodyPr/>
                    <a:lstStyle/>
                    <a:p>
                      <a:r>
                        <a:rPr lang="en-US"/>
                        <a:t>2</a:t>
                      </a:r>
                      <a:endParaRPr lang="en-IN"/>
                    </a:p>
                  </a:txBody>
                  <a:tcPr/>
                </a:tc>
                <a:tc>
                  <a:txBody>
                    <a:bodyPr/>
                    <a:lstStyle/>
                    <a:p>
                      <a:r>
                        <a:rPr lang="en-US"/>
                        <a:t>71.29</a:t>
                      </a:r>
                      <a:endParaRPr lang="en-IN"/>
                    </a:p>
                  </a:txBody>
                  <a:tcPr/>
                </a:tc>
                <a:tc>
                  <a:txBody>
                    <a:bodyPr/>
                    <a:lstStyle/>
                    <a:p>
                      <a:r>
                        <a:rPr lang="en-US"/>
                        <a:t>6.89</a:t>
                      </a:r>
                      <a:endParaRPr lang="en-IN"/>
                    </a:p>
                  </a:txBody>
                  <a:tcPr/>
                </a:tc>
                <a:extLst>
                  <a:ext uri="{0D108BD9-81ED-4DB2-BD59-A6C34878D82A}">
                    <a16:rowId xmlns:a16="http://schemas.microsoft.com/office/drawing/2014/main" val="2675035299"/>
                  </a:ext>
                </a:extLst>
              </a:tr>
              <a:tr h="393590">
                <a:tc>
                  <a:txBody>
                    <a:bodyPr/>
                    <a:lstStyle/>
                    <a:p>
                      <a:r>
                        <a:rPr lang="en-US"/>
                        <a:t>Range</a:t>
                      </a:r>
                      <a:endParaRPr lang="en-IN"/>
                    </a:p>
                  </a:txBody>
                  <a:tcPr/>
                </a:tc>
                <a:tc>
                  <a:txBody>
                    <a:bodyPr/>
                    <a:lstStyle/>
                    <a:p>
                      <a:r>
                        <a:rPr lang="en-US"/>
                        <a:t>836.02</a:t>
                      </a:r>
                      <a:endParaRPr lang="en-IN"/>
                    </a:p>
                  </a:txBody>
                  <a:tcPr/>
                </a:tc>
                <a:tc>
                  <a:txBody>
                    <a:bodyPr/>
                    <a:lstStyle/>
                    <a:p>
                      <a:r>
                        <a:rPr lang="en-US"/>
                        <a:t>13.57</a:t>
                      </a:r>
                      <a:endParaRPr lang="en-IN"/>
                    </a:p>
                  </a:txBody>
                  <a:tcPr/>
                </a:tc>
                <a:tc>
                  <a:txBody>
                    <a:bodyPr/>
                    <a:lstStyle/>
                    <a:p>
                      <a:r>
                        <a:rPr lang="en-US"/>
                        <a:t>168.6</a:t>
                      </a:r>
                      <a:endParaRPr lang="en-IN"/>
                    </a:p>
                  </a:txBody>
                  <a:tcPr/>
                </a:tc>
                <a:tc>
                  <a:txBody>
                    <a:bodyPr/>
                    <a:lstStyle/>
                    <a:p>
                      <a:r>
                        <a:rPr lang="en-US"/>
                        <a:t>9</a:t>
                      </a:r>
                      <a:endParaRPr lang="en-IN"/>
                    </a:p>
                  </a:txBody>
                  <a:tcPr/>
                </a:tc>
                <a:tc>
                  <a:txBody>
                    <a:bodyPr/>
                    <a:lstStyle/>
                    <a:p>
                      <a:r>
                        <a:rPr lang="en-US"/>
                        <a:t>59.4</a:t>
                      </a:r>
                      <a:endParaRPr lang="en-IN"/>
                    </a:p>
                  </a:txBody>
                  <a:tcPr/>
                </a:tc>
                <a:tc>
                  <a:txBody>
                    <a:bodyPr/>
                    <a:lstStyle/>
                    <a:p>
                      <a:r>
                        <a:rPr lang="en-US"/>
                        <a:t>6.86</a:t>
                      </a:r>
                      <a:endParaRPr lang="en-IN"/>
                    </a:p>
                  </a:txBody>
                  <a:tcPr/>
                </a:tc>
                <a:extLst>
                  <a:ext uri="{0D108BD9-81ED-4DB2-BD59-A6C34878D82A}">
                    <a16:rowId xmlns:a16="http://schemas.microsoft.com/office/drawing/2014/main" val="1003431668"/>
                  </a:ext>
                </a:extLst>
              </a:tr>
              <a:tr h="393590">
                <a:tc>
                  <a:txBody>
                    <a:bodyPr/>
                    <a:lstStyle/>
                    <a:p>
                      <a:r>
                        <a:rPr lang="en-US"/>
                        <a:t>SD</a:t>
                      </a:r>
                      <a:endParaRPr lang="en-IN"/>
                    </a:p>
                  </a:txBody>
                  <a:tcPr/>
                </a:tc>
                <a:tc>
                  <a:txBody>
                    <a:bodyPr/>
                    <a:lstStyle/>
                    <a:p>
                      <a:r>
                        <a:rPr lang="en-US"/>
                        <a:t>217.4466</a:t>
                      </a:r>
                      <a:endParaRPr lang="en-IN"/>
                    </a:p>
                  </a:txBody>
                  <a:tcPr/>
                </a:tc>
                <a:tc>
                  <a:txBody>
                    <a:bodyPr/>
                    <a:lstStyle/>
                    <a:p>
                      <a:r>
                        <a:rPr lang="en-US"/>
                        <a:t>4.314433</a:t>
                      </a:r>
                      <a:endParaRPr lang="en-IN"/>
                    </a:p>
                  </a:txBody>
                  <a:tcPr/>
                </a:tc>
                <a:tc>
                  <a:txBody>
                    <a:bodyPr/>
                    <a:lstStyle/>
                    <a:p>
                      <a:r>
                        <a:rPr lang="en-US"/>
                        <a:t>59.91522</a:t>
                      </a:r>
                      <a:endParaRPr lang="en-IN"/>
                    </a:p>
                  </a:txBody>
                  <a:tcPr/>
                </a:tc>
                <a:tc>
                  <a:txBody>
                    <a:bodyPr/>
                    <a:lstStyle/>
                    <a:p>
                      <a:r>
                        <a:rPr lang="en-US"/>
                        <a:t>2.650786</a:t>
                      </a:r>
                      <a:endParaRPr lang="en-IN"/>
                    </a:p>
                  </a:txBody>
                  <a:tcPr/>
                </a:tc>
                <a:tc>
                  <a:txBody>
                    <a:bodyPr/>
                    <a:lstStyle/>
                    <a:p>
                      <a:r>
                        <a:rPr lang="en-US"/>
                        <a:t>20.26637</a:t>
                      </a:r>
                      <a:endParaRPr lang="en-IN"/>
                    </a:p>
                  </a:txBody>
                  <a:tcPr/>
                </a:tc>
                <a:tc>
                  <a:txBody>
                    <a:bodyPr/>
                    <a:lstStyle/>
                    <a:p>
                      <a:r>
                        <a:rPr lang="en-US"/>
                        <a:t>2.158081</a:t>
                      </a:r>
                      <a:endParaRPr lang="en-IN"/>
                    </a:p>
                  </a:txBody>
                  <a:tcPr/>
                </a:tc>
                <a:extLst>
                  <a:ext uri="{0D108BD9-81ED-4DB2-BD59-A6C34878D82A}">
                    <a16:rowId xmlns:a16="http://schemas.microsoft.com/office/drawing/2014/main" val="2850910490"/>
                  </a:ext>
                </a:extLst>
              </a:tr>
            </a:tbl>
          </a:graphicData>
        </a:graphic>
      </p:graphicFrame>
      <p:sp>
        <p:nvSpPr>
          <p:cNvPr id="3" name="TextBox 2">
            <a:extLst>
              <a:ext uri="{FF2B5EF4-FFF2-40B4-BE49-F238E27FC236}">
                <a16:creationId xmlns:a16="http://schemas.microsoft.com/office/drawing/2014/main" id="{1B09040D-2B1E-A108-5E27-DE97B7A40AE3}"/>
              </a:ext>
            </a:extLst>
          </p:cNvPr>
          <p:cNvSpPr txBox="1"/>
          <p:nvPr/>
        </p:nvSpPr>
        <p:spPr>
          <a:xfrm>
            <a:off x="154094" y="4621479"/>
            <a:ext cx="1169930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Moderately high variability in all of the variables implies that none of the variables are remotely stable with time.</a:t>
            </a:r>
            <a:endParaRPr lang="en-US" dirty="0">
              <a:ea typeface="Calibri"/>
              <a:cs typeface="Calibri"/>
            </a:endParaRPr>
          </a:p>
          <a:p>
            <a:r>
              <a:rPr lang="en-US" dirty="0">
                <a:ea typeface="+mn-lt"/>
                <a:cs typeface="+mn-lt"/>
              </a:rPr>
              <a:t>• Pest incident is the only positively skewed factor(apart from temperature) suggesting the variability is caused mainly by few years when the pest incidents are at their peak.</a:t>
            </a:r>
            <a:endParaRPr lang="en-US" dirty="0">
              <a:ea typeface="Calibri" panose="020F0502020204030204"/>
              <a:cs typeface="Calibri" panose="020F0502020204030204"/>
            </a:endParaRPr>
          </a:p>
          <a:p>
            <a:r>
              <a:rPr lang="en-US" dirty="0">
                <a:ea typeface="+mn-lt"/>
                <a:cs typeface="+mn-lt"/>
              </a:rPr>
              <a:t>• High range in Technology Index shows the improvement of its implementation in agriculture with time.</a:t>
            </a:r>
          </a:p>
          <a:p>
            <a:r>
              <a:rPr lang="en-US" dirty="0">
                <a:ea typeface="+mn-lt"/>
                <a:cs typeface="+mn-lt"/>
              </a:rPr>
              <a:t>• Rainfall varies significantly with a high range and being an important factor in crop yield is worth studying.</a:t>
            </a:r>
            <a:endParaRPr lang="en-US" dirty="0">
              <a:ea typeface="Calibri"/>
              <a:cs typeface="Calibri"/>
            </a:endParaRPr>
          </a:p>
          <a:p>
            <a:r>
              <a:rPr lang="en-US" dirty="0">
                <a:ea typeface="+mn-lt"/>
                <a:cs typeface="+mn-lt"/>
              </a:rPr>
              <a:t>• Temperature on the other hand has a lower variance and range compared to Rainfall. So, it can definitely be considered a more stable natural factor.</a:t>
            </a:r>
            <a:endParaRPr lang="en-US" dirty="0"/>
          </a:p>
        </p:txBody>
      </p:sp>
    </p:spTree>
    <p:extLst>
      <p:ext uri="{BB962C8B-B14F-4D97-AF65-F5344CB8AC3E}">
        <p14:creationId xmlns:p14="http://schemas.microsoft.com/office/powerpoint/2010/main" val="3061672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9747-9B9F-EA5F-221F-21FC948700CF}"/>
              </a:ext>
            </a:extLst>
          </p:cNvPr>
          <p:cNvSpPr>
            <a:spLocks noGrp="1"/>
          </p:cNvSpPr>
          <p:nvPr>
            <p:ph type="title"/>
          </p:nvPr>
        </p:nvSpPr>
        <p:spPr>
          <a:xfrm>
            <a:off x="838200" y="365125"/>
            <a:ext cx="10515600" cy="1280795"/>
          </a:xfrm>
        </p:spPr>
        <p:txBody>
          <a:bodyPr>
            <a:normAutofit fontScale="90000"/>
          </a:bodyPr>
          <a:lstStyle/>
          <a:p>
            <a:r>
              <a:rPr lang="en-US" sz="4400" b="1" u="sng"/>
              <a:t>Correlation With Crop Yield: </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endParaRPr lang="en-IN"/>
          </a:p>
        </p:txBody>
      </p:sp>
      <p:graphicFrame>
        <p:nvGraphicFramePr>
          <p:cNvPr id="6" name="Table 5">
            <a:extLst>
              <a:ext uri="{FF2B5EF4-FFF2-40B4-BE49-F238E27FC236}">
                <a16:creationId xmlns:a16="http://schemas.microsoft.com/office/drawing/2014/main" id="{AFD26D35-AE78-0881-9881-F466A255AAB5}"/>
              </a:ext>
            </a:extLst>
          </p:cNvPr>
          <p:cNvGraphicFramePr>
            <a:graphicFrameLocks noGrp="1"/>
          </p:cNvGraphicFramePr>
          <p:nvPr>
            <p:extLst>
              <p:ext uri="{D42A27DB-BD31-4B8C-83A1-F6EECF244321}">
                <p14:modId xmlns:p14="http://schemas.microsoft.com/office/powerpoint/2010/main" val="2528047126"/>
              </p:ext>
            </p:extLst>
          </p:nvPr>
        </p:nvGraphicFramePr>
        <p:xfrm>
          <a:off x="838200" y="1546860"/>
          <a:ext cx="10515594" cy="1245870"/>
        </p:xfrm>
        <a:graphic>
          <a:graphicData uri="http://schemas.openxmlformats.org/drawingml/2006/table">
            <a:tbl>
              <a:tblPr firstRow="1" bandRow="1">
                <a:tableStyleId>{93296810-A885-4BE3-A3E7-6D5BEEA58F35}</a:tableStyleId>
              </a:tblPr>
              <a:tblGrid>
                <a:gridCol w="1752599">
                  <a:extLst>
                    <a:ext uri="{9D8B030D-6E8A-4147-A177-3AD203B41FA5}">
                      <a16:colId xmlns:a16="http://schemas.microsoft.com/office/drawing/2014/main" val="230447469"/>
                    </a:ext>
                  </a:extLst>
                </a:gridCol>
                <a:gridCol w="1752599">
                  <a:extLst>
                    <a:ext uri="{9D8B030D-6E8A-4147-A177-3AD203B41FA5}">
                      <a16:colId xmlns:a16="http://schemas.microsoft.com/office/drawing/2014/main" val="2703911345"/>
                    </a:ext>
                  </a:extLst>
                </a:gridCol>
                <a:gridCol w="1752599">
                  <a:extLst>
                    <a:ext uri="{9D8B030D-6E8A-4147-A177-3AD203B41FA5}">
                      <a16:colId xmlns:a16="http://schemas.microsoft.com/office/drawing/2014/main" val="209778684"/>
                    </a:ext>
                  </a:extLst>
                </a:gridCol>
                <a:gridCol w="1752599">
                  <a:extLst>
                    <a:ext uri="{9D8B030D-6E8A-4147-A177-3AD203B41FA5}">
                      <a16:colId xmlns:a16="http://schemas.microsoft.com/office/drawing/2014/main" val="169624509"/>
                    </a:ext>
                  </a:extLst>
                </a:gridCol>
                <a:gridCol w="1752599">
                  <a:extLst>
                    <a:ext uri="{9D8B030D-6E8A-4147-A177-3AD203B41FA5}">
                      <a16:colId xmlns:a16="http://schemas.microsoft.com/office/drawing/2014/main" val="872199014"/>
                    </a:ext>
                  </a:extLst>
                </a:gridCol>
                <a:gridCol w="1752599">
                  <a:extLst>
                    <a:ext uri="{9D8B030D-6E8A-4147-A177-3AD203B41FA5}">
                      <a16:colId xmlns:a16="http://schemas.microsoft.com/office/drawing/2014/main" val="3915221810"/>
                    </a:ext>
                  </a:extLst>
                </a:gridCol>
              </a:tblGrid>
              <a:tr h="605790">
                <a:tc>
                  <a:txBody>
                    <a:bodyPr/>
                    <a:lstStyle/>
                    <a:p>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Rainfall (mm)</a:t>
                      </a:r>
                      <a:endParaRPr lang="en-IN"/>
                    </a:p>
                    <a:p>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Avg Temp </a:t>
                      </a:r>
                      <a:endParaRPr lang="en-IN"/>
                    </a:p>
                    <a:p>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Fertilizer (kg/ha)</a:t>
                      </a:r>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Pest Incidents</a:t>
                      </a:r>
                      <a:endParaRPr lang="en-IN"/>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Technology Index</a:t>
                      </a:r>
                      <a:endParaRPr lang="en-IN"/>
                    </a:p>
                  </a:txBody>
                  <a:tcPr/>
                </a:tc>
                <a:extLst>
                  <a:ext uri="{0D108BD9-81ED-4DB2-BD59-A6C34878D82A}">
                    <a16:rowId xmlns:a16="http://schemas.microsoft.com/office/drawing/2014/main" val="4156700006"/>
                  </a:ext>
                </a:extLst>
              </a:tr>
              <a:tr h="605790">
                <a:tc>
                  <a:txBody>
                    <a:bodyPr/>
                    <a:lstStyle/>
                    <a:p>
                      <a:r>
                        <a:rPr lang="en-US"/>
                        <a:t>Correlation</a:t>
                      </a:r>
                      <a:endParaRPr lang="en-IN"/>
                    </a:p>
                  </a:txBody>
                  <a:tcPr/>
                </a:tc>
                <a:tc>
                  <a:txBody>
                    <a:bodyPr/>
                    <a:lstStyle/>
                    <a:p>
                      <a:r>
                        <a:rPr lang="en-US"/>
                        <a:t>0.7481621</a:t>
                      </a:r>
                      <a:endParaRPr lang="en-IN"/>
                    </a:p>
                  </a:txBody>
                  <a:tcPr/>
                </a:tc>
                <a:tc>
                  <a:txBody>
                    <a:bodyPr/>
                    <a:lstStyle/>
                    <a:p>
                      <a:r>
                        <a:rPr lang="en-US"/>
                        <a:t>-0.9373517</a:t>
                      </a:r>
                      <a:endParaRPr lang="en-IN"/>
                    </a:p>
                  </a:txBody>
                  <a:tcPr/>
                </a:tc>
                <a:tc>
                  <a:txBody>
                    <a:bodyPr/>
                    <a:lstStyle/>
                    <a:p>
                      <a:r>
                        <a:rPr lang="en-IN" sz="1800" kern="1200">
                          <a:solidFill>
                            <a:schemeClr val="dk1"/>
                          </a:solidFill>
                          <a:effectLst/>
                          <a:latin typeface="+mn-lt"/>
                          <a:ea typeface="+mn-ea"/>
                          <a:cs typeface="+mn-cs"/>
                        </a:rPr>
                        <a:t>0.6895067</a:t>
                      </a:r>
                      <a:endParaRPr lang="en-IN"/>
                    </a:p>
                  </a:txBody>
                  <a:tcPr/>
                </a:tc>
                <a:tc>
                  <a:txBody>
                    <a:bodyPr/>
                    <a:lstStyle/>
                    <a:p>
                      <a:r>
                        <a:rPr lang="en-IN" sz="1800" kern="1200">
                          <a:solidFill>
                            <a:schemeClr val="dk1"/>
                          </a:solidFill>
                          <a:effectLst/>
                          <a:latin typeface="+mn-lt"/>
                          <a:ea typeface="+mn-ea"/>
                          <a:cs typeface="+mn-cs"/>
                        </a:rPr>
                        <a:t>-0.3881811</a:t>
                      </a:r>
                      <a:endParaRPr lang="en-IN"/>
                    </a:p>
                  </a:txBody>
                  <a:tcPr/>
                </a:tc>
                <a:tc>
                  <a:txBody>
                    <a:bodyPr/>
                    <a:lstStyle/>
                    <a:p>
                      <a:r>
                        <a:rPr lang="en-IN" sz="1800" kern="1200">
                          <a:solidFill>
                            <a:schemeClr val="dk1"/>
                          </a:solidFill>
                          <a:effectLst/>
                          <a:latin typeface="+mn-lt"/>
                          <a:ea typeface="+mn-ea"/>
                          <a:cs typeface="+mn-cs"/>
                        </a:rPr>
                        <a:t>0.6064945 </a:t>
                      </a:r>
                      <a:endParaRPr lang="en-IN"/>
                    </a:p>
                  </a:txBody>
                  <a:tcPr/>
                </a:tc>
                <a:extLst>
                  <a:ext uri="{0D108BD9-81ED-4DB2-BD59-A6C34878D82A}">
                    <a16:rowId xmlns:a16="http://schemas.microsoft.com/office/drawing/2014/main" val="294577876"/>
                  </a:ext>
                </a:extLst>
              </a:tr>
            </a:tbl>
          </a:graphicData>
        </a:graphic>
      </p:graphicFrame>
      <p:sp>
        <p:nvSpPr>
          <p:cNvPr id="3" name="TextBox 2">
            <a:extLst>
              <a:ext uri="{FF2B5EF4-FFF2-40B4-BE49-F238E27FC236}">
                <a16:creationId xmlns:a16="http://schemas.microsoft.com/office/drawing/2014/main" id="{FEEB2F93-A5B0-1911-7550-912E1430AFBC}"/>
              </a:ext>
            </a:extLst>
          </p:cNvPr>
          <p:cNvSpPr txBox="1"/>
          <p:nvPr/>
        </p:nvSpPr>
        <p:spPr>
          <a:xfrm>
            <a:off x="729018" y="3429000"/>
            <a:ext cx="10515594" cy="1754326"/>
          </a:xfrm>
          <a:prstGeom prst="rect">
            <a:avLst/>
          </a:prstGeom>
          <a:noFill/>
        </p:spPr>
        <p:txBody>
          <a:bodyPr wrap="square" rtlCol="0">
            <a:spAutoFit/>
          </a:bodyPr>
          <a:lstStyle/>
          <a:p>
            <a:pPr marL="285750" indent="-285750">
              <a:buFont typeface="Arial" panose="020B0604020202020204" pitchFamily="34" charset="0"/>
              <a:buChar char="•"/>
            </a:pPr>
            <a:r>
              <a:rPr lang="en-US"/>
              <a:t>Very high negative correlation between Temp and Yield implies temperature and global warming as an important factor affecting agriculture.</a:t>
            </a:r>
          </a:p>
          <a:p>
            <a:pPr marL="285750" indent="-285750">
              <a:buFont typeface="Arial" panose="020B0604020202020204" pitchFamily="34" charset="0"/>
              <a:buChar char="•"/>
            </a:pPr>
            <a:r>
              <a:rPr lang="en-US"/>
              <a:t>Moderately high and positive linear link between Crop yield and Fertilizer used as well as Technology suggest that these two factors require proper attention for maximizing agricultural progress.</a:t>
            </a:r>
          </a:p>
          <a:p>
            <a:pPr marL="285750" indent="-285750">
              <a:buFont typeface="Arial" panose="020B0604020202020204" pitchFamily="34" charset="0"/>
              <a:buChar char="•"/>
            </a:pPr>
            <a:r>
              <a:rPr lang="en-US"/>
              <a:t>A high positive correlation with Rainfall tells us importance of rainfall, the main source of irrigation in agriculture.</a:t>
            </a:r>
            <a:endParaRPr lang="en-IN"/>
          </a:p>
        </p:txBody>
      </p:sp>
    </p:spTree>
    <p:extLst>
      <p:ext uri="{BB962C8B-B14F-4D97-AF65-F5344CB8AC3E}">
        <p14:creationId xmlns:p14="http://schemas.microsoft.com/office/powerpoint/2010/main" val="1646933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C6837-DCA2-F230-0051-649AE5EC999C}"/>
              </a:ext>
            </a:extLst>
          </p:cNvPr>
          <p:cNvSpPr>
            <a:spLocks noGrp="1"/>
          </p:cNvSpPr>
          <p:nvPr>
            <p:ph type="title"/>
          </p:nvPr>
        </p:nvSpPr>
        <p:spPr/>
        <p:txBody>
          <a:bodyPr/>
          <a:lstStyle/>
          <a:p>
            <a:r>
              <a:rPr lang="en-US" b="1" u="sng"/>
              <a:t>Correlation Heatmap:</a:t>
            </a:r>
            <a:endParaRPr lang="en-IN" b="1" u="sng"/>
          </a:p>
        </p:txBody>
      </p:sp>
      <p:pic>
        <p:nvPicPr>
          <p:cNvPr id="4" name="Content Placeholder 3">
            <a:extLst>
              <a:ext uri="{FF2B5EF4-FFF2-40B4-BE49-F238E27FC236}">
                <a16:creationId xmlns:a16="http://schemas.microsoft.com/office/drawing/2014/main" id="{F2BB4C0F-A756-7EBD-FBF2-85D994CF0B16}"/>
              </a:ext>
            </a:extLst>
          </p:cNvPr>
          <p:cNvPicPr>
            <a:picLocks noGrp="1" noChangeAspect="1"/>
          </p:cNvPicPr>
          <p:nvPr>
            <p:ph idx="1"/>
          </p:nvPr>
        </p:nvPicPr>
        <p:blipFill>
          <a:blip r:embed="rId2"/>
          <a:stretch>
            <a:fillRect/>
          </a:stretch>
        </p:blipFill>
        <p:spPr>
          <a:xfrm>
            <a:off x="3379996" y="1987932"/>
            <a:ext cx="5432007" cy="3645724"/>
          </a:xfrm>
          <a:prstGeom prst="rect">
            <a:avLst/>
          </a:prstGeom>
        </p:spPr>
      </p:pic>
    </p:spTree>
    <p:extLst>
      <p:ext uri="{BB962C8B-B14F-4D97-AF65-F5344CB8AC3E}">
        <p14:creationId xmlns:p14="http://schemas.microsoft.com/office/powerpoint/2010/main" val="1303660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9DDBE-24CB-54B5-0B4C-5B66E6CD51A2}"/>
              </a:ext>
            </a:extLst>
          </p:cNvPr>
          <p:cNvSpPr>
            <a:spLocks noGrp="1"/>
          </p:cNvSpPr>
          <p:nvPr>
            <p:ph type="title"/>
          </p:nvPr>
        </p:nvSpPr>
        <p:spPr>
          <a:xfrm>
            <a:off x="838200" y="231275"/>
            <a:ext cx="10515600" cy="579755"/>
          </a:xfrm>
        </p:spPr>
        <p:txBody>
          <a:bodyPr>
            <a:normAutofit fontScale="90000"/>
          </a:bodyPr>
          <a:lstStyle/>
          <a:p>
            <a:r>
              <a:rPr lang="en-US" b="1" u="sng"/>
              <a:t>Visualization :</a:t>
            </a:r>
            <a:endParaRPr lang="en-IN" b="1" u="sng"/>
          </a:p>
        </p:txBody>
      </p:sp>
      <p:pic>
        <p:nvPicPr>
          <p:cNvPr id="4" name="Content Placeholder 3">
            <a:extLst>
              <a:ext uri="{FF2B5EF4-FFF2-40B4-BE49-F238E27FC236}">
                <a16:creationId xmlns:a16="http://schemas.microsoft.com/office/drawing/2014/main" id="{E446CCEE-7AF1-563F-917E-0A346D5746AE}"/>
              </a:ext>
            </a:extLst>
          </p:cNvPr>
          <p:cNvPicPr>
            <a:picLocks noGrp="1" noChangeAspect="1"/>
          </p:cNvPicPr>
          <p:nvPr>
            <p:ph idx="1"/>
          </p:nvPr>
        </p:nvPicPr>
        <p:blipFill>
          <a:blip r:embed="rId2"/>
          <a:stretch>
            <a:fillRect/>
          </a:stretch>
        </p:blipFill>
        <p:spPr>
          <a:xfrm>
            <a:off x="3573780" y="811880"/>
            <a:ext cx="4823460" cy="3322608"/>
          </a:xfrm>
          <a:prstGeom prst="rect">
            <a:avLst/>
          </a:prstGeom>
        </p:spPr>
      </p:pic>
      <p:sp>
        <p:nvSpPr>
          <p:cNvPr id="3" name="TextBox 2">
            <a:extLst>
              <a:ext uri="{FF2B5EF4-FFF2-40B4-BE49-F238E27FC236}">
                <a16:creationId xmlns:a16="http://schemas.microsoft.com/office/drawing/2014/main" id="{04B7E7EE-CA8C-D2AA-CE46-0CD262819EC0}"/>
              </a:ext>
            </a:extLst>
          </p:cNvPr>
          <p:cNvSpPr txBox="1"/>
          <p:nvPr/>
        </p:nvSpPr>
        <p:spPr>
          <a:xfrm>
            <a:off x="717184" y="4384816"/>
            <a:ext cx="10743296" cy="1846659"/>
          </a:xfrm>
          <a:prstGeom prst="rect">
            <a:avLst/>
          </a:prstGeom>
          <a:noFill/>
        </p:spPr>
        <p:txBody>
          <a:bodyPr wrap="square" rtlCol="0">
            <a:spAutoFit/>
          </a:bodyPr>
          <a:lstStyle/>
          <a:p>
            <a:pPr marL="285750" indent="-285750">
              <a:buFont typeface="Arial" panose="020B0604020202020204" pitchFamily="34" charset="0"/>
              <a:buChar char="•"/>
            </a:pPr>
            <a:r>
              <a:rPr lang="en-US" sz="2400"/>
              <a:t>As rainfall increases, the crop yield also increases, which is shown by the upward trend and the fitted blue regression line.</a:t>
            </a:r>
          </a:p>
          <a:p>
            <a:pPr marL="285750" indent="-285750">
              <a:buFont typeface="Arial" panose="020B0604020202020204" pitchFamily="34" charset="0"/>
              <a:buChar char="•"/>
            </a:pPr>
            <a:r>
              <a:rPr lang="en-US" sz="2400"/>
              <a:t>This suggests that rainfall plays a significant role in boosting agricultural productivity — likely because water is a key input in crop growth.</a:t>
            </a:r>
          </a:p>
          <a:p>
            <a:pPr marL="285750" indent="-285750">
              <a:buFont typeface="Arial" panose="020B0604020202020204" pitchFamily="34" charset="0"/>
              <a:buChar char="•"/>
            </a:pPr>
            <a:endParaRPr lang="en-IN"/>
          </a:p>
        </p:txBody>
      </p:sp>
      <p:sp>
        <p:nvSpPr>
          <p:cNvPr id="11" name="Rectangle 1">
            <a:extLst>
              <a:ext uri="{FF2B5EF4-FFF2-40B4-BE49-F238E27FC236}">
                <a16:creationId xmlns:a16="http://schemas.microsoft.com/office/drawing/2014/main" id="{C49B77E6-8E06-47F2-4A6D-548CC6F922B1}"/>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3347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391E6C-6275-EEF1-934A-CC1A554D15AE}"/>
              </a:ext>
            </a:extLst>
          </p:cNvPr>
          <p:cNvPicPr>
            <a:picLocks noChangeAspect="1"/>
          </p:cNvPicPr>
          <p:nvPr/>
        </p:nvPicPr>
        <p:blipFill>
          <a:blip r:embed="rId2"/>
          <a:stretch>
            <a:fillRect/>
          </a:stretch>
        </p:blipFill>
        <p:spPr>
          <a:xfrm>
            <a:off x="3622328" y="527427"/>
            <a:ext cx="4947343" cy="3322608"/>
          </a:xfrm>
          <a:prstGeom prst="rect">
            <a:avLst/>
          </a:prstGeom>
        </p:spPr>
      </p:pic>
      <p:sp>
        <p:nvSpPr>
          <p:cNvPr id="8" name="TextBox 7">
            <a:extLst>
              <a:ext uri="{FF2B5EF4-FFF2-40B4-BE49-F238E27FC236}">
                <a16:creationId xmlns:a16="http://schemas.microsoft.com/office/drawing/2014/main" id="{2381042E-A4C3-B733-4202-6F601A8B29FF}"/>
              </a:ext>
            </a:extLst>
          </p:cNvPr>
          <p:cNvSpPr txBox="1"/>
          <p:nvPr/>
        </p:nvSpPr>
        <p:spPr>
          <a:xfrm>
            <a:off x="838200" y="4136336"/>
            <a:ext cx="10515600" cy="1938992"/>
          </a:xfrm>
          <a:prstGeom prst="rect">
            <a:avLst/>
          </a:prstGeom>
          <a:noFill/>
        </p:spPr>
        <p:txBody>
          <a:bodyPr wrap="square">
            <a:spAutoFit/>
          </a:bodyPr>
          <a:lstStyle/>
          <a:p>
            <a:pPr marL="285750" indent="-285750">
              <a:buFont typeface="Arial" panose="020B0604020202020204" pitchFamily="34" charset="0"/>
              <a:buChar char="•"/>
            </a:pPr>
            <a:r>
              <a:rPr lang="en-US" sz="2400"/>
              <a:t>The blue regression line slopes downward, indicating that higher temperatures are associated with lower yields.</a:t>
            </a:r>
          </a:p>
          <a:p>
            <a:pPr marL="285750" indent="-285750">
              <a:buFont typeface="Arial" panose="020B0604020202020204" pitchFamily="34" charset="0"/>
              <a:buChar char="•"/>
            </a:pPr>
            <a:r>
              <a:rPr lang="en-US" sz="2400"/>
              <a:t>This makes sense agriculturally:</a:t>
            </a:r>
          </a:p>
          <a:p>
            <a:pPr marL="285750" indent="-285750">
              <a:buFont typeface="Wingdings" panose="05000000000000000000" pitchFamily="2" charset="2"/>
              <a:buChar char="§"/>
            </a:pPr>
            <a:r>
              <a:rPr lang="en-US" sz="2400"/>
              <a:t>       High temperatures can cause heat stress in crops.</a:t>
            </a:r>
          </a:p>
          <a:p>
            <a:pPr marL="285750" indent="-285750">
              <a:buFont typeface="Wingdings" panose="05000000000000000000" pitchFamily="2" charset="2"/>
              <a:buChar char="§"/>
            </a:pPr>
            <a:r>
              <a:rPr lang="en-US" sz="2400"/>
              <a:t>       It increases evapotranspiration, drying out soil moisture faster.</a:t>
            </a:r>
            <a:endParaRPr lang="en-IN" sz="2400"/>
          </a:p>
        </p:txBody>
      </p:sp>
    </p:spTree>
    <p:extLst>
      <p:ext uri="{BB962C8B-B14F-4D97-AF65-F5344CB8AC3E}">
        <p14:creationId xmlns:p14="http://schemas.microsoft.com/office/powerpoint/2010/main" val="296648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6C9EDC4-0CDC-2912-C388-565FFCFDF912}"/>
              </a:ext>
            </a:extLst>
          </p:cNvPr>
          <p:cNvPicPr>
            <a:picLocks noGrp="1" noChangeAspect="1"/>
          </p:cNvPicPr>
          <p:nvPr>
            <p:ph idx="1"/>
          </p:nvPr>
        </p:nvPicPr>
        <p:blipFill>
          <a:blip r:embed="rId2"/>
          <a:stretch>
            <a:fillRect/>
          </a:stretch>
        </p:blipFill>
        <p:spPr>
          <a:xfrm>
            <a:off x="3654310" y="283907"/>
            <a:ext cx="5060119" cy="3395766"/>
          </a:xfrm>
          <a:prstGeom prst="rect">
            <a:avLst/>
          </a:prstGeom>
        </p:spPr>
      </p:pic>
      <p:sp>
        <p:nvSpPr>
          <p:cNvPr id="3" name="TextBox 2">
            <a:extLst>
              <a:ext uri="{FF2B5EF4-FFF2-40B4-BE49-F238E27FC236}">
                <a16:creationId xmlns:a16="http://schemas.microsoft.com/office/drawing/2014/main" id="{EDF3A0F5-E2A1-9069-CFBB-18E80F808BD3}"/>
              </a:ext>
            </a:extLst>
          </p:cNvPr>
          <p:cNvSpPr txBox="1"/>
          <p:nvPr/>
        </p:nvSpPr>
        <p:spPr>
          <a:xfrm>
            <a:off x="694900" y="3741888"/>
            <a:ext cx="11146580" cy="1569660"/>
          </a:xfrm>
          <a:prstGeom prst="rect">
            <a:avLst/>
          </a:prstGeom>
          <a:noFill/>
        </p:spPr>
        <p:txBody>
          <a:bodyPr wrap="square" rtlCol="0">
            <a:spAutoFit/>
          </a:bodyPr>
          <a:lstStyle/>
          <a:p>
            <a:pPr marL="285750" indent="-285750">
              <a:buFont typeface="Arial" panose="020B0604020202020204" pitchFamily="34" charset="0"/>
              <a:buChar char="•"/>
            </a:pPr>
            <a:r>
              <a:rPr lang="en-US" sz="2400"/>
              <a:t>The blue regression line shows an upward trend, indicating that increasing fertilizer tends to increase yield.</a:t>
            </a:r>
          </a:p>
          <a:p>
            <a:pPr marL="285750" indent="-285750">
              <a:buFont typeface="Arial" panose="020B0604020202020204" pitchFamily="34" charset="0"/>
              <a:buChar char="•"/>
            </a:pPr>
            <a:r>
              <a:rPr lang="en-US" sz="2400"/>
              <a:t>However, there's more scatter around the line compared to the rainfall plot, which means:</a:t>
            </a:r>
          </a:p>
        </p:txBody>
      </p:sp>
      <p:sp>
        <p:nvSpPr>
          <p:cNvPr id="10" name="TextBox 9">
            <a:extLst>
              <a:ext uri="{FF2B5EF4-FFF2-40B4-BE49-F238E27FC236}">
                <a16:creationId xmlns:a16="http://schemas.microsoft.com/office/drawing/2014/main" id="{050FA543-A0FD-A2E9-C6AC-C652278217D5}"/>
              </a:ext>
            </a:extLst>
          </p:cNvPr>
          <p:cNvSpPr txBox="1"/>
          <p:nvPr/>
        </p:nvSpPr>
        <p:spPr>
          <a:xfrm>
            <a:off x="694900" y="5297971"/>
            <a:ext cx="10978940" cy="1200329"/>
          </a:xfrm>
          <a:prstGeom prst="rect">
            <a:avLst/>
          </a:prstGeom>
          <a:noFill/>
        </p:spPr>
        <p:txBody>
          <a:bodyPr wrap="square" rtlCol="0">
            <a:spAutoFit/>
          </a:bodyPr>
          <a:lstStyle/>
          <a:p>
            <a:pPr marL="285750" indent="-285750">
              <a:buFont typeface="Courier New" panose="02070309020205020404" pitchFamily="49" charset="0"/>
              <a:buChar char="o"/>
            </a:pPr>
            <a:r>
              <a:rPr kumimoji="0" lang="en-US" altLang="en-US" sz="2400" b="0" i="0" u="none" strike="noStrike" cap="none" normalizeH="0" baseline="0">
                <a:ln>
                  <a:noFill/>
                </a:ln>
                <a:solidFill>
                  <a:schemeClr val="tx1"/>
                </a:solidFill>
                <a:effectLst/>
                <a:latin typeface="Arial" panose="020B0604020202020204" pitchFamily="34" charset="0"/>
              </a:rPr>
              <a:t>The effect of fertilizer on yield is </a:t>
            </a:r>
            <a:r>
              <a:rPr kumimoji="0" lang="en-US" altLang="en-US" sz="2400" i="0" u="none" strike="noStrike" cap="none" normalizeH="0" baseline="0">
                <a:ln>
                  <a:noFill/>
                </a:ln>
                <a:solidFill>
                  <a:schemeClr val="tx1"/>
                </a:solidFill>
                <a:effectLst/>
                <a:latin typeface="Arial" panose="020B0604020202020204" pitchFamily="34" charset="0"/>
              </a:rPr>
              <a:t>less consistent.</a:t>
            </a:r>
          </a:p>
          <a:p>
            <a:pPr marL="285750" indent="-285750">
              <a:buFont typeface="Courier New" panose="02070309020205020404" pitchFamily="49" charset="0"/>
              <a:buChar char="o"/>
            </a:pPr>
            <a:r>
              <a:rPr lang="en-US" sz="2400"/>
              <a:t>Overuse of fertilizer could lead to negative effects, possibly explaining some of the outliers.</a:t>
            </a:r>
            <a:endParaRPr lang="en-IN" sz="2400"/>
          </a:p>
        </p:txBody>
      </p:sp>
    </p:spTree>
    <p:extLst>
      <p:ext uri="{BB962C8B-B14F-4D97-AF65-F5344CB8AC3E}">
        <p14:creationId xmlns:p14="http://schemas.microsoft.com/office/powerpoint/2010/main" val="300314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EC9E4B-D8AA-9937-051A-5B271BD946B2}"/>
              </a:ext>
            </a:extLst>
          </p:cNvPr>
          <p:cNvPicPr>
            <a:picLocks noChangeAspect="1"/>
          </p:cNvPicPr>
          <p:nvPr/>
        </p:nvPicPr>
        <p:blipFill>
          <a:blip r:embed="rId2"/>
          <a:stretch>
            <a:fillRect/>
          </a:stretch>
        </p:blipFill>
        <p:spPr>
          <a:xfrm>
            <a:off x="3565940" y="741389"/>
            <a:ext cx="5060119" cy="3392882"/>
          </a:xfrm>
          <a:prstGeom prst="rect">
            <a:avLst/>
          </a:prstGeom>
        </p:spPr>
      </p:pic>
      <p:sp>
        <p:nvSpPr>
          <p:cNvPr id="6" name="TextBox 5">
            <a:extLst>
              <a:ext uri="{FF2B5EF4-FFF2-40B4-BE49-F238E27FC236}">
                <a16:creationId xmlns:a16="http://schemas.microsoft.com/office/drawing/2014/main" id="{D1C9F07C-7EDA-F552-7EB6-2430CB2887B0}"/>
              </a:ext>
            </a:extLst>
          </p:cNvPr>
          <p:cNvSpPr txBox="1"/>
          <p:nvPr/>
        </p:nvSpPr>
        <p:spPr>
          <a:xfrm>
            <a:off x="944880" y="4628495"/>
            <a:ext cx="10660380" cy="830997"/>
          </a:xfrm>
          <a:prstGeom prst="rect">
            <a:avLst/>
          </a:prstGeom>
          <a:noFill/>
        </p:spPr>
        <p:txBody>
          <a:bodyPr wrap="square">
            <a:spAutoFit/>
          </a:bodyPr>
          <a:lstStyle/>
          <a:p>
            <a:pPr marL="285750" indent="-285750">
              <a:buFont typeface="Arial" panose="020B0604020202020204" pitchFamily="34" charset="0"/>
              <a:buChar char="•"/>
            </a:pPr>
            <a:r>
              <a:rPr lang="en-US" sz="2400"/>
              <a:t>The blue regression line slopes downward, confirming the overall negative trend.</a:t>
            </a:r>
          </a:p>
          <a:p>
            <a:pPr marL="285750" indent="-285750">
              <a:buFont typeface="Arial" panose="020B0604020202020204" pitchFamily="34" charset="0"/>
              <a:buChar char="•"/>
            </a:pPr>
            <a:r>
              <a:rPr lang="en-US" sz="2400"/>
              <a:t>Pest control alone isn't sufficient to ensure high productivity</a:t>
            </a:r>
            <a:r>
              <a:rPr lang="en-US"/>
              <a:t>.</a:t>
            </a:r>
          </a:p>
        </p:txBody>
      </p:sp>
    </p:spTree>
    <p:extLst>
      <p:ext uri="{BB962C8B-B14F-4D97-AF65-F5344CB8AC3E}">
        <p14:creationId xmlns:p14="http://schemas.microsoft.com/office/powerpoint/2010/main" val="1329121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4879ADF-22FE-B5B3-050D-927333CA2236}"/>
              </a:ext>
            </a:extLst>
          </p:cNvPr>
          <p:cNvPicPr>
            <a:picLocks noGrp="1" noChangeAspect="1"/>
          </p:cNvPicPr>
          <p:nvPr>
            <p:ph idx="1"/>
          </p:nvPr>
        </p:nvPicPr>
        <p:blipFill>
          <a:blip r:embed="rId2"/>
          <a:stretch>
            <a:fillRect/>
          </a:stretch>
        </p:blipFill>
        <p:spPr>
          <a:xfrm>
            <a:off x="3242824" y="446754"/>
            <a:ext cx="5706351" cy="3828620"/>
          </a:xfrm>
          <a:prstGeom prst="rect">
            <a:avLst/>
          </a:prstGeom>
        </p:spPr>
      </p:pic>
      <p:sp>
        <p:nvSpPr>
          <p:cNvPr id="3" name="TextBox 2">
            <a:extLst>
              <a:ext uri="{FF2B5EF4-FFF2-40B4-BE49-F238E27FC236}">
                <a16:creationId xmlns:a16="http://schemas.microsoft.com/office/drawing/2014/main" id="{4B979795-FF79-1C4D-6D90-F23701904871}"/>
              </a:ext>
            </a:extLst>
          </p:cNvPr>
          <p:cNvSpPr txBox="1"/>
          <p:nvPr/>
        </p:nvSpPr>
        <p:spPr>
          <a:xfrm>
            <a:off x="815340" y="4496936"/>
            <a:ext cx="10698480" cy="1477328"/>
          </a:xfrm>
          <a:prstGeom prst="rect">
            <a:avLst/>
          </a:prstGeom>
          <a:noFill/>
        </p:spPr>
        <p:txBody>
          <a:bodyPr wrap="square" rtlCol="0">
            <a:spAutoFit/>
          </a:bodyPr>
          <a:lstStyle/>
          <a:p>
            <a:pPr marL="285750" indent="-285750">
              <a:buFont typeface="Arial" panose="020B0604020202020204" pitchFamily="34" charset="0"/>
              <a:buChar char="•"/>
            </a:pPr>
            <a:r>
              <a:rPr lang="en-US" sz="2400"/>
              <a:t>The blue regression line slopes upward, showing a strong positive linear trend.</a:t>
            </a:r>
          </a:p>
          <a:p>
            <a:pPr marL="285750" indent="-285750">
              <a:buFont typeface="Arial" panose="020B0604020202020204" pitchFamily="34" charset="0"/>
              <a:buChar char="•"/>
            </a:pPr>
            <a:r>
              <a:rPr lang="en-US" sz="2400"/>
              <a:t>Investment in agricultural technology (like irrigation systems) pays off in terms of higher yield.</a:t>
            </a:r>
          </a:p>
          <a:p>
            <a:pPr marL="285750" indent="-285750">
              <a:buFont typeface="Arial" panose="020B0604020202020204" pitchFamily="34" charset="0"/>
              <a:buChar char="•"/>
            </a:pPr>
            <a:endParaRPr lang="en-IN"/>
          </a:p>
        </p:txBody>
      </p:sp>
    </p:spTree>
    <p:extLst>
      <p:ext uri="{BB962C8B-B14F-4D97-AF65-F5344CB8AC3E}">
        <p14:creationId xmlns:p14="http://schemas.microsoft.com/office/powerpoint/2010/main" val="3010218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pic>
        <p:nvPicPr>
          <p:cNvPr id="6" name="Content Placeholder 5" descr="A graph with blue lines&#10;&#10;AI-generated content may be incorrect.">
            <a:extLst>
              <a:ext uri="{FF2B5EF4-FFF2-40B4-BE49-F238E27FC236}">
                <a16:creationId xmlns:a16="http://schemas.microsoft.com/office/drawing/2014/main" id="{4B225A77-7F85-F5D1-2519-72E244DDAEF9}"/>
              </a:ext>
            </a:extLst>
          </p:cNvPr>
          <p:cNvPicPr>
            <a:picLocks noGrp="1" noChangeAspect="1"/>
          </p:cNvPicPr>
          <p:nvPr>
            <p:ph idx="1"/>
          </p:nvPr>
        </p:nvPicPr>
        <p:blipFill>
          <a:blip r:embed="rId2"/>
          <a:stretch>
            <a:fillRect/>
          </a:stretch>
        </p:blipFill>
        <p:spPr>
          <a:xfrm>
            <a:off x="2842640" y="989464"/>
            <a:ext cx="5809006" cy="3214047"/>
          </a:xfrm>
          <a:solidFill>
            <a:schemeClr val="accent6">
              <a:lumMod val="60000"/>
              <a:lumOff val="40000"/>
            </a:schemeClr>
          </a:solidFill>
        </p:spPr>
      </p:pic>
      <p:sp>
        <p:nvSpPr>
          <p:cNvPr id="4" name="Title 3">
            <a:extLst>
              <a:ext uri="{FF2B5EF4-FFF2-40B4-BE49-F238E27FC236}">
                <a16:creationId xmlns:a16="http://schemas.microsoft.com/office/drawing/2014/main" id="{74BA8F12-DB4F-8D34-8FC1-A63FD8F6FE56}"/>
              </a:ext>
            </a:extLst>
          </p:cNvPr>
          <p:cNvSpPr>
            <a:spLocks noGrp="1"/>
          </p:cNvSpPr>
          <p:nvPr>
            <p:ph type="title"/>
          </p:nvPr>
        </p:nvSpPr>
        <p:spPr>
          <a:xfrm>
            <a:off x="3811631" y="68240"/>
            <a:ext cx="4040873" cy="921224"/>
          </a:xfrm>
        </p:spPr>
        <p:txBody>
          <a:bodyPr>
            <a:normAutofit/>
          </a:bodyPr>
          <a:lstStyle/>
          <a:p>
            <a:r>
              <a:rPr lang="en-US" sz="4000" b="1" u="sng"/>
              <a:t>Time Series Plot:</a:t>
            </a:r>
            <a:endParaRPr lang="en-IN" sz="4000" b="1" u="sng"/>
          </a:p>
        </p:txBody>
      </p:sp>
      <p:sp>
        <p:nvSpPr>
          <p:cNvPr id="5" name="TextBox 4">
            <a:extLst>
              <a:ext uri="{FF2B5EF4-FFF2-40B4-BE49-F238E27FC236}">
                <a16:creationId xmlns:a16="http://schemas.microsoft.com/office/drawing/2014/main" id="{5CF46EBF-3F06-CAE9-7840-3CC094AEB93A}"/>
              </a:ext>
            </a:extLst>
          </p:cNvPr>
          <p:cNvSpPr txBox="1"/>
          <p:nvPr/>
        </p:nvSpPr>
        <p:spPr>
          <a:xfrm>
            <a:off x="887104" y="4328694"/>
            <a:ext cx="2026692" cy="461665"/>
          </a:xfrm>
          <a:prstGeom prst="rect">
            <a:avLst/>
          </a:prstGeom>
          <a:noFill/>
        </p:spPr>
        <p:txBody>
          <a:bodyPr wrap="square" rtlCol="0">
            <a:spAutoFit/>
          </a:bodyPr>
          <a:lstStyle/>
          <a:p>
            <a:r>
              <a:rPr lang="en-US" sz="2400" b="1" i="1" u="sng"/>
              <a:t>Observations:</a:t>
            </a:r>
            <a:endParaRPr lang="en-IN" sz="2400" b="1" i="1" u="sng"/>
          </a:p>
        </p:txBody>
      </p:sp>
      <p:sp>
        <p:nvSpPr>
          <p:cNvPr id="7" name="TextBox 6">
            <a:extLst>
              <a:ext uri="{FF2B5EF4-FFF2-40B4-BE49-F238E27FC236}">
                <a16:creationId xmlns:a16="http://schemas.microsoft.com/office/drawing/2014/main" id="{AD4E61DB-4186-581F-612C-5EA31556211E}"/>
              </a:ext>
            </a:extLst>
          </p:cNvPr>
          <p:cNvSpPr txBox="1"/>
          <p:nvPr/>
        </p:nvSpPr>
        <p:spPr>
          <a:xfrm>
            <a:off x="887104" y="4790359"/>
            <a:ext cx="10549719" cy="2308324"/>
          </a:xfrm>
          <a:prstGeom prst="rect">
            <a:avLst/>
          </a:prstGeom>
          <a:noFill/>
        </p:spPr>
        <p:txBody>
          <a:bodyPr wrap="square" rtlCol="0">
            <a:spAutoFit/>
          </a:bodyPr>
          <a:lstStyle/>
          <a:p>
            <a:pPr marL="285750" indent="-285750">
              <a:buFont typeface="Arial" panose="020B0604020202020204" pitchFamily="34" charset="0"/>
              <a:buChar char="•"/>
            </a:pPr>
            <a:r>
              <a:rPr lang="en-US" sz="1800" b="1" i="1" u="sng">
                <a:ea typeface="+mn-lt"/>
                <a:cs typeface="+mn-lt"/>
              </a:rPr>
              <a:t>High Variability:</a:t>
            </a:r>
            <a:r>
              <a:rPr lang="en-US" sz="1800">
                <a:ea typeface="+mn-lt"/>
                <a:cs typeface="+mn-lt"/>
              </a:rPr>
              <a:t> Ranging between approximately 3 to 10 tons per hectare.</a:t>
            </a:r>
          </a:p>
          <a:p>
            <a:pPr marL="285750" indent="-285750">
              <a:buFont typeface="Arial" panose="020B0604020202020204" pitchFamily="34" charset="0"/>
              <a:buChar char="•"/>
            </a:pPr>
            <a:r>
              <a:rPr lang="en-US" sz="1800" b="1" i="1" u="sng">
                <a:ea typeface="Calibri" panose="020F0502020204030204"/>
                <a:cs typeface="Calibri" panose="020F0502020204030204"/>
              </a:rPr>
              <a:t>No Clear Trend: </a:t>
            </a:r>
            <a:r>
              <a:rPr lang="en-US" sz="1800">
                <a:ea typeface="Calibri" panose="020F0502020204030204"/>
                <a:cs typeface="Calibri" panose="020F0502020204030204"/>
              </a:rPr>
              <a:t>There is no obvious long-term increase or decrease. </a:t>
            </a:r>
          </a:p>
          <a:p>
            <a:pPr marL="285750" indent="-285750">
              <a:buFont typeface="Arial" panose="020B0604020202020204" pitchFamily="34" charset="0"/>
              <a:buChar char="•"/>
            </a:pPr>
            <a:r>
              <a:rPr lang="en-US" sz="1800" b="1" i="1" u="sng">
                <a:ea typeface="Calibri" panose="020F0502020204030204"/>
                <a:cs typeface="Calibri" panose="020F0502020204030204"/>
              </a:rPr>
              <a:t>Low Yield Years: </a:t>
            </a:r>
            <a:r>
              <a:rPr lang="en-US" sz="1800">
                <a:ea typeface="Calibri" panose="020F0502020204030204"/>
                <a:cs typeface="Calibri" panose="020F0502020204030204"/>
              </a:rPr>
              <a:t>2009, 2012, 2014, 2020, and 2023</a:t>
            </a:r>
          </a:p>
          <a:p>
            <a:pPr marL="285750" indent="-285750">
              <a:buFont typeface="Arial" panose="020B0604020202020204" pitchFamily="34" charset="0"/>
              <a:buChar char="•"/>
            </a:pPr>
            <a:r>
              <a:rPr lang="en-US" sz="1800" b="1" i="1" u="sng">
                <a:ea typeface="Calibri" panose="020F0502020204030204"/>
                <a:cs typeface="Calibri" panose="020F0502020204030204"/>
              </a:rPr>
              <a:t>High Yield Years: </a:t>
            </a:r>
            <a:r>
              <a:rPr lang="en-US" sz="1800">
                <a:ea typeface="Calibri" panose="020F0502020204030204"/>
                <a:cs typeface="Calibri" panose="020F0502020204030204"/>
              </a:rPr>
              <a:t>2001, 2004, 2008, 2013, and 2024, with 2024 marking one of the highest yields.</a:t>
            </a:r>
          </a:p>
          <a:p>
            <a:pPr marL="285750" indent="-285750">
              <a:buFont typeface="Arial" panose="020B0604020202020204" pitchFamily="34" charset="0"/>
              <a:buChar char="•"/>
            </a:pPr>
            <a:r>
              <a:rPr lang="en-US" sz="1800" b="1" i="1" u="sng">
                <a:ea typeface="Calibri" panose="020F0502020204030204"/>
                <a:cs typeface="Calibri" panose="020F0502020204030204"/>
              </a:rPr>
              <a:t>Potential Recovery in 2024: </a:t>
            </a:r>
            <a:r>
              <a:rPr lang="en-US" sz="1800">
                <a:ea typeface="Calibri" panose="020F0502020204030204"/>
                <a:cs typeface="Calibri" panose="020F0502020204030204"/>
              </a:rPr>
              <a:t>Despite previous dips, crop yield in 2024 shows a strong recovery.</a:t>
            </a:r>
          </a:p>
          <a:p>
            <a:pPr marL="285750" indent="-285750">
              <a:buFont typeface="Arial" panose="020B0604020202020204" pitchFamily="34" charset="0"/>
              <a:buChar char="•"/>
            </a:pPr>
            <a:endParaRPr lang="en-US" sz="1800" u="sng">
              <a:ea typeface="Calibri" panose="020F0502020204030204"/>
              <a:cs typeface="Calibri" panose="020F0502020204030204"/>
            </a:endParaRPr>
          </a:p>
          <a:p>
            <a:pPr marL="285750" indent="-285750">
              <a:buFont typeface="Arial" panose="020B0604020202020204" pitchFamily="34" charset="0"/>
              <a:buChar char="•"/>
            </a:pPr>
            <a:endParaRPr lang="en-US" sz="1800" u="sng">
              <a:ea typeface="+mn-lt"/>
              <a:cs typeface="+mn-lt"/>
            </a:endParaRPr>
          </a:p>
          <a:p>
            <a:pPr marL="285750" indent="-285750">
              <a:buFont typeface="Arial" panose="020B0604020202020204" pitchFamily="34" charset="0"/>
              <a:buChar char="•"/>
            </a:pPr>
            <a:endParaRPr lang="en-IN" b="1" i="1" u="sng"/>
          </a:p>
        </p:txBody>
      </p:sp>
    </p:spTree>
    <p:extLst>
      <p:ext uri="{BB962C8B-B14F-4D97-AF65-F5344CB8AC3E}">
        <p14:creationId xmlns:p14="http://schemas.microsoft.com/office/powerpoint/2010/main" val="4102125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141678-3087-EFB6-791D-8A002DB89A2F}"/>
              </a:ext>
            </a:extLst>
          </p:cNvPr>
          <p:cNvSpPr>
            <a:spLocks noGrp="1"/>
          </p:cNvSpPr>
          <p:nvPr>
            <p:ph idx="1"/>
          </p:nvPr>
        </p:nvSpPr>
        <p:spPr>
          <a:xfrm>
            <a:off x="4120" y="3004"/>
            <a:ext cx="12183761" cy="6853580"/>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r>
              <a:rPr lang="en-US">
                <a:ea typeface="Calibri" panose="020F0502020204030204"/>
                <a:cs typeface="Calibri" panose="020F0502020204030204"/>
              </a:rPr>
              <a:t>                          </a:t>
            </a:r>
          </a:p>
          <a:p>
            <a:pPr marL="0" indent="0">
              <a:buNone/>
            </a:pPr>
            <a:r>
              <a:rPr lang="en-US">
                <a:ea typeface="Calibri" panose="020F0502020204030204"/>
                <a:cs typeface="Calibri" panose="020F0502020204030204"/>
              </a:rPr>
              <a:t>                                </a:t>
            </a:r>
          </a:p>
          <a:p>
            <a:pPr marL="0" indent="0">
              <a:buNone/>
            </a:pPr>
            <a:endParaRPr lang="en-US">
              <a:ea typeface="Calibri" panose="020F0502020204030204"/>
              <a:cs typeface="Calibri" panose="020F0502020204030204"/>
            </a:endParaRPr>
          </a:p>
          <a:p>
            <a:pPr marL="0" indent="0">
              <a:buNone/>
            </a:pPr>
            <a:r>
              <a:rPr lang="en-US">
                <a:ea typeface="Calibri" panose="020F0502020204030204"/>
                <a:cs typeface="Calibri" panose="020F0502020204030204"/>
              </a:rPr>
              <a:t>                              </a:t>
            </a:r>
            <a:endParaRPr lang="en-US" sz="3600" b="1">
              <a:ea typeface="Calibri" panose="020F0502020204030204"/>
              <a:cs typeface="Calibri" panose="020F0502020204030204"/>
            </a:endParaRPr>
          </a:p>
        </p:txBody>
      </p:sp>
      <p:pic>
        <p:nvPicPr>
          <p:cNvPr id="4" name="Picture 3" descr="A graph with blue lines and numbers&#10;&#10;AI-generated content may be incorrect.">
            <a:extLst>
              <a:ext uri="{FF2B5EF4-FFF2-40B4-BE49-F238E27FC236}">
                <a16:creationId xmlns:a16="http://schemas.microsoft.com/office/drawing/2014/main" id="{6B2DAA7F-77EB-3D65-C75F-D04BE5E1E849}"/>
              </a:ext>
            </a:extLst>
          </p:cNvPr>
          <p:cNvPicPr>
            <a:picLocks noChangeAspect="1"/>
          </p:cNvPicPr>
          <p:nvPr/>
        </p:nvPicPr>
        <p:blipFill>
          <a:blip r:embed="rId2"/>
          <a:stretch>
            <a:fillRect/>
          </a:stretch>
        </p:blipFill>
        <p:spPr>
          <a:xfrm>
            <a:off x="3056504" y="377503"/>
            <a:ext cx="5193568" cy="36435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956985B1-BB1B-419E-14A7-61E8E2942EA9}"/>
              </a:ext>
            </a:extLst>
          </p:cNvPr>
          <p:cNvSpPr txBox="1"/>
          <p:nvPr/>
        </p:nvSpPr>
        <p:spPr>
          <a:xfrm>
            <a:off x="864927" y="4295212"/>
            <a:ext cx="6097136" cy="369332"/>
          </a:xfrm>
          <a:prstGeom prst="rect">
            <a:avLst/>
          </a:prstGeom>
          <a:noFill/>
        </p:spPr>
        <p:txBody>
          <a:bodyPr wrap="square">
            <a:spAutoFit/>
          </a:bodyPr>
          <a:lstStyle/>
          <a:p>
            <a:r>
              <a:rPr lang="en-US" sz="1800" b="1" i="1" u="sng"/>
              <a:t>Observations:</a:t>
            </a:r>
            <a:endParaRPr lang="en-IN" sz="1800" b="1" i="1" u="sng"/>
          </a:p>
        </p:txBody>
      </p:sp>
      <p:sp>
        <p:nvSpPr>
          <p:cNvPr id="10" name="TextBox 9">
            <a:extLst>
              <a:ext uri="{FF2B5EF4-FFF2-40B4-BE49-F238E27FC236}">
                <a16:creationId xmlns:a16="http://schemas.microsoft.com/office/drawing/2014/main" id="{960ED794-875D-65C1-EE4C-5D3E1E904D7B}"/>
              </a:ext>
            </a:extLst>
          </p:cNvPr>
          <p:cNvSpPr txBox="1"/>
          <p:nvPr/>
        </p:nvSpPr>
        <p:spPr>
          <a:xfrm>
            <a:off x="586854" y="4700156"/>
            <a:ext cx="10440536" cy="1477328"/>
          </a:xfrm>
          <a:prstGeom prst="rect">
            <a:avLst/>
          </a:prstGeom>
          <a:noFill/>
        </p:spPr>
        <p:txBody>
          <a:bodyPr wrap="square" rtlCol="0">
            <a:spAutoFit/>
          </a:bodyPr>
          <a:lstStyle/>
          <a:p>
            <a:pPr marL="285750" indent="-285750">
              <a:buFont typeface="Arial" panose="020B0604020202020204" pitchFamily="34" charset="0"/>
              <a:buChar char="•"/>
            </a:pPr>
            <a:r>
              <a:rPr lang="en-US" b="1" i="1" u="sng">
                <a:ea typeface="+mn-lt"/>
                <a:cs typeface="+mn-lt"/>
              </a:rPr>
              <a:t>Fluctuating Trend: </a:t>
            </a:r>
            <a:r>
              <a:rPr lang="en-US">
                <a:ea typeface="+mn-lt"/>
                <a:cs typeface="+mn-lt"/>
              </a:rPr>
              <a:t>H</a:t>
            </a:r>
            <a:r>
              <a:rPr lang="en-US" sz="1800">
                <a:ea typeface="+mn-lt"/>
                <a:cs typeface="+mn-lt"/>
              </a:rPr>
              <a:t>igh fluctuating pattern.</a:t>
            </a:r>
          </a:p>
          <a:p>
            <a:pPr marL="285750" indent="-285750">
              <a:buFont typeface="Arial" panose="020B0604020202020204" pitchFamily="34" charset="0"/>
              <a:buChar char="•"/>
            </a:pPr>
            <a:r>
              <a:rPr lang="en-US" sz="1800" b="1" i="1" u="sng">
                <a:ea typeface="+mn-lt"/>
                <a:cs typeface="+mn-lt"/>
              </a:rPr>
              <a:t>No Strong Trend: </a:t>
            </a:r>
            <a:r>
              <a:rPr lang="en-US">
                <a:ea typeface="+mn-lt"/>
                <a:cs typeface="+mn-lt"/>
              </a:rPr>
              <a:t>N</a:t>
            </a:r>
            <a:r>
              <a:rPr lang="en-US" sz="1800">
                <a:ea typeface="+mn-lt"/>
                <a:cs typeface="+mn-lt"/>
              </a:rPr>
              <a:t>o consistent upward or downward trajectory.</a:t>
            </a:r>
          </a:p>
          <a:p>
            <a:pPr marL="285750" indent="-285750">
              <a:buFont typeface="Arial" panose="020B0604020202020204" pitchFamily="34" charset="0"/>
              <a:buChar char="•"/>
            </a:pPr>
            <a:r>
              <a:rPr lang="en-US" sz="1800" b="1" i="1" u="sng">
                <a:ea typeface="+mn-lt"/>
                <a:cs typeface="+mn-lt"/>
              </a:rPr>
              <a:t>Peaks and Lows: </a:t>
            </a:r>
            <a:r>
              <a:rPr lang="en-US" sz="1800">
                <a:ea typeface="+mn-lt"/>
                <a:cs typeface="+mn-lt"/>
              </a:rPr>
              <a:t> </a:t>
            </a:r>
            <a:r>
              <a:rPr lang="en-US">
                <a:ea typeface="+mn-lt"/>
                <a:cs typeface="+mn-lt"/>
              </a:rPr>
              <a:t>P</a:t>
            </a:r>
            <a:r>
              <a:rPr lang="en-US" sz="1800">
                <a:ea typeface="+mn-lt"/>
                <a:cs typeface="+mn-lt"/>
              </a:rPr>
              <a:t>eaks: 2001, 2008, 2011,2013, 2016, and 2024. </a:t>
            </a:r>
            <a:r>
              <a:rPr lang="en-US">
                <a:ea typeface="+mn-lt"/>
                <a:cs typeface="+mn-lt"/>
              </a:rPr>
              <a:t>And </a:t>
            </a:r>
            <a:r>
              <a:rPr lang="en-US" sz="1800">
                <a:ea typeface="+mn-lt"/>
                <a:cs typeface="+mn-lt"/>
              </a:rPr>
              <a:t>lows: 2004, 2009, 2014, and 2020.</a:t>
            </a:r>
            <a:endParaRPr lang="en-US" sz="1800">
              <a:ea typeface="Calibri"/>
              <a:cs typeface="Calibri"/>
            </a:endParaRPr>
          </a:p>
          <a:p>
            <a:pPr marL="285750" indent="-285750">
              <a:buFont typeface="Arial" panose="020B0604020202020204" pitchFamily="34" charset="0"/>
              <a:buChar char="•"/>
            </a:pPr>
            <a:endParaRPr lang="en-US" sz="1800" u="sng">
              <a:ea typeface="+mn-lt"/>
              <a:cs typeface="+mn-lt"/>
            </a:endParaRPr>
          </a:p>
          <a:p>
            <a:pPr marL="285750" indent="-285750">
              <a:buFont typeface="Arial" panose="020B0604020202020204" pitchFamily="34" charset="0"/>
              <a:buChar char="•"/>
            </a:pPr>
            <a:endParaRPr lang="en-IN" u="sng"/>
          </a:p>
        </p:txBody>
      </p:sp>
    </p:spTree>
    <p:extLst>
      <p:ext uri="{BB962C8B-B14F-4D97-AF65-F5344CB8AC3E}">
        <p14:creationId xmlns:p14="http://schemas.microsoft.com/office/powerpoint/2010/main" val="1921987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pic>
        <p:nvPicPr>
          <p:cNvPr id="4" name="Picture 3" descr="A graph with blue lines and numbers">
            <a:extLst>
              <a:ext uri="{FF2B5EF4-FFF2-40B4-BE49-F238E27FC236}">
                <a16:creationId xmlns:a16="http://schemas.microsoft.com/office/drawing/2014/main" id="{9D9954DF-0F85-B5E4-C449-D1E57DDBAA9C}"/>
              </a:ext>
            </a:extLst>
          </p:cNvPr>
          <p:cNvPicPr>
            <a:picLocks noChangeAspect="1"/>
          </p:cNvPicPr>
          <p:nvPr/>
        </p:nvPicPr>
        <p:blipFill>
          <a:blip r:embed="rId2"/>
          <a:stretch>
            <a:fillRect/>
          </a:stretch>
        </p:blipFill>
        <p:spPr>
          <a:xfrm>
            <a:off x="3031498" y="270398"/>
            <a:ext cx="5657079" cy="4148010"/>
          </a:xfrm>
          <a:prstGeom prst="rect">
            <a:avLst/>
          </a:prstGeom>
        </p:spPr>
      </p:pic>
      <p:sp>
        <p:nvSpPr>
          <p:cNvPr id="8" name="TextBox 7">
            <a:extLst>
              <a:ext uri="{FF2B5EF4-FFF2-40B4-BE49-F238E27FC236}">
                <a16:creationId xmlns:a16="http://schemas.microsoft.com/office/drawing/2014/main" id="{002A8F08-A203-F39C-3E08-2AF97E8906F2}"/>
              </a:ext>
            </a:extLst>
          </p:cNvPr>
          <p:cNvSpPr txBox="1"/>
          <p:nvPr/>
        </p:nvSpPr>
        <p:spPr>
          <a:xfrm>
            <a:off x="919518" y="4574991"/>
            <a:ext cx="6097136" cy="369332"/>
          </a:xfrm>
          <a:prstGeom prst="rect">
            <a:avLst/>
          </a:prstGeom>
          <a:noFill/>
        </p:spPr>
        <p:txBody>
          <a:bodyPr wrap="square">
            <a:spAutoFit/>
          </a:bodyPr>
          <a:lstStyle/>
          <a:p>
            <a:r>
              <a:rPr lang="en-US" sz="1800" b="1" i="1" u="sng"/>
              <a:t>Observations:</a:t>
            </a:r>
            <a:endParaRPr lang="en-IN" sz="1800" b="1" i="1" u="sng"/>
          </a:p>
        </p:txBody>
      </p:sp>
      <p:sp>
        <p:nvSpPr>
          <p:cNvPr id="9" name="TextBox 8">
            <a:extLst>
              <a:ext uri="{FF2B5EF4-FFF2-40B4-BE49-F238E27FC236}">
                <a16:creationId xmlns:a16="http://schemas.microsoft.com/office/drawing/2014/main" id="{785DD128-B28A-0B85-34AF-8B1A8AEEA919}"/>
              </a:ext>
            </a:extLst>
          </p:cNvPr>
          <p:cNvSpPr txBox="1"/>
          <p:nvPr/>
        </p:nvSpPr>
        <p:spPr>
          <a:xfrm>
            <a:off x="591687" y="5100906"/>
            <a:ext cx="11008625" cy="1477328"/>
          </a:xfrm>
          <a:prstGeom prst="rect">
            <a:avLst/>
          </a:prstGeom>
          <a:noFill/>
        </p:spPr>
        <p:txBody>
          <a:bodyPr wrap="square" rtlCol="0">
            <a:spAutoFit/>
          </a:bodyPr>
          <a:lstStyle/>
          <a:p>
            <a:pPr marL="285750" indent="-285750">
              <a:buFont typeface="Arial" panose="020B0604020202020204" pitchFamily="34" charset="0"/>
              <a:buChar char="•"/>
            </a:pPr>
            <a:r>
              <a:rPr lang="en-US" b="1" i="1" u="sng"/>
              <a:t>Fluctuating Pattern: </a:t>
            </a:r>
            <a:r>
              <a:rPr lang="en-US">
                <a:ea typeface="+mn-lt"/>
                <a:cs typeface="+mn-lt"/>
              </a:rPr>
              <a:t>R</a:t>
            </a:r>
            <a:r>
              <a:rPr lang="en-US" sz="1800">
                <a:ea typeface="+mn-lt"/>
                <a:cs typeface="+mn-lt"/>
              </a:rPr>
              <a:t>anging mostly between 21°C and 35°C, showing no consistent upward or downward trend.</a:t>
            </a:r>
          </a:p>
          <a:p>
            <a:pPr marL="285750" indent="-285750">
              <a:buFont typeface="Arial" panose="020B0604020202020204" pitchFamily="34" charset="0"/>
              <a:buChar char="•"/>
            </a:pPr>
            <a:r>
              <a:rPr lang="en-US" sz="1800" b="1" i="1" u="sng">
                <a:ea typeface="+mn-lt"/>
                <a:cs typeface="+mn-lt"/>
              </a:rPr>
              <a:t>Highs and Lows: </a:t>
            </a:r>
            <a:r>
              <a:rPr lang="en-US" sz="1800">
                <a:ea typeface="+mn-lt"/>
                <a:cs typeface="+mn-lt"/>
              </a:rPr>
              <a:t>Peaks : 2005, 2012, 2015,2017 and 2021. And</a:t>
            </a:r>
            <a:r>
              <a:rPr lang="en-US">
                <a:ea typeface="+mn-lt"/>
                <a:cs typeface="+mn-lt"/>
              </a:rPr>
              <a:t> l</a:t>
            </a:r>
            <a:r>
              <a:rPr lang="en-US" sz="1800">
                <a:ea typeface="+mn-lt"/>
                <a:cs typeface="+mn-lt"/>
              </a:rPr>
              <a:t>ows: 2004, 2008, 2013, 2019, and 2024.</a:t>
            </a:r>
          </a:p>
          <a:p>
            <a:pPr marL="285750" indent="-285750">
              <a:buFont typeface="Arial" panose="020B0604020202020204" pitchFamily="34" charset="0"/>
              <a:buChar char="•"/>
            </a:pPr>
            <a:r>
              <a:rPr lang="en-US" sz="1800" b="1" i="1" u="sng">
                <a:ea typeface="+mn-lt"/>
                <a:cs typeface="+mn-lt"/>
              </a:rPr>
              <a:t>Sharp Drop in 2024: </a:t>
            </a:r>
            <a:r>
              <a:rPr lang="en-US" sz="1800">
                <a:ea typeface="+mn-lt"/>
                <a:cs typeface="+mn-lt"/>
              </a:rPr>
              <a:t>The year 2024 recorded one of the lowest average temperatures in the entire dataset.</a:t>
            </a:r>
            <a:br>
              <a:rPr lang="en-US" sz="1800" u="sng"/>
            </a:br>
            <a:br>
              <a:rPr lang="en-US" sz="1800" b="1" i="1" u="sng"/>
            </a:br>
            <a:endParaRPr lang="en-IN" b="1" i="1" u="sng"/>
          </a:p>
        </p:txBody>
      </p:sp>
    </p:spTree>
    <p:extLst>
      <p:ext uri="{BB962C8B-B14F-4D97-AF65-F5344CB8AC3E}">
        <p14:creationId xmlns:p14="http://schemas.microsoft.com/office/powerpoint/2010/main" val="1301378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B2DF7112-5CF2-D7E8-C9F9-BAD4F7452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24FF0-F91A-DEC9-8FB4-6F50AC101406}"/>
              </a:ext>
            </a:extLst>
          </p:cNvPr>
          <p:cNvSpPr>
            <a:spLocks noGrp="1"/>
          </p:cNvSpPr>
          <p:nvPr>
            <p:ph type="title"/>
          </p:nvPr>
        </p:nvSpPr>
        <p:spPr/>
        <p:txBody>
          <a:bodyPr/>
          <a:lstStyle/>
          <a:p>
            <a:r>
              <a:rPr lang="en-US" b="1" u="sng"/>
              <a:t>Model Building:</a:t>
            </a:r>
            <a:endParaRPr lang="en-IN" b="1" u="sng"/>
          </a:p>
        </p:txBody>
      </p:sp>
      <p:sp>
        <p:nvSpPr>
          <p:cNvPr id="3" name="Content Placeholder 2">
            <a:extLst>
              <a:ext uri="{FF2B5EF4-FFF2-40B4-BE49-F238E27FC236}">
                <a16:creationId xmlns:a16="http://schemas.microsoft.com/office/drawing/2014/main" id="{98D6257B-E1B2-FBA7-9E24-41545C8DD10D}"/>
              </a:ext>
            </a:extLst>
          </p:cNvPr>
          <p:cNvSpPr>
            <a:spLocks noGrp="1"/>
          </p:cNvSpPr>
          <p:nvPr>
            <p:ph idx="1"/>
          </p:nvPr>
        </p:nvSpPr>
        <p:spPr>
          <a:xfrm>
            <a:off x="838200" y="1331355"/>
            <a:ext cx="10515600" cy="5381067"/>
          </a:xfrm>
        </p:spPr>
        <p:txBody>
          <a:bodyPr vert="horz" lIns="91440" tIns="45720" rIns="91440" bIns="45720" rtlCol="0" anchor="t">
            <a:noAutofit/>
          </a:bodyPr>
          <a:lstStyle/>
          <a:p>
            <a:pPr marL="0" indent="0">
              <a:buNone/>
            </a:pPr>
            <a:r>
              <a:rPr lang="en-IN" sz="3200" dirty="0">
                <a:ea typeface="Calibri"/>
                <a:cs typeface="Calibri"/>
              </a:rPr>
              <a:t>We have created 2 different Prediction Models to predict Crop Yield based on the different parameters: Rainfall, Temperature, Pest Incidents, Technology Index and Fertilizers used.</a:t>
            </a:r>
          </a:p>
          <a:p>
            <a:endParaRPr lang="en-IN" sz="1200">
              <a:ea typeface="Calibri"/>
              <a:cs typeface="Calibri"/>
            </a:endParaRPr>
          </a:p>
          <a:p>
            <a:endParaRPr lang="en-IN" sz="1200">
              <a:ea typeface="Calibri"/>
              <a:cs typeface="Calibri"/>
            </a:endParaRPr>
          </a:p>
          <a:p>
            <a:endParaRPr lang="en-IN" sz="1200">
              <a:ea typeface="Calibri"/>
              <a:cs typeface="Calibri"/>
            </a:endParaRPr>
          </a:p>
          <a:p>
            <a:endParaRPr lang="en-IN" sz="1600">
              <a:ea typeface="Calibri"/>
              <a:cs typeface="Calibri"/>
            </a:endParaRPr>
          </a:p>
        </p:txBody>
      </p:sp>
      <p:graphicFrame>
        <p:nvGraphicFramePr>
          <p:cNvPr id="4" name="Diagram 3">
            <a:extLst>
              <a:ext uri="{FF2B5EF4-FFF2-40B4-BE49-F238E27FC236}">
                <a16:creationId xmlns:a16="http://schemas.microsoft.com/office/drawing/2014/main" id="{6ACDE49A-0879-EC92-05A4-37625C9AA976}"/>
              </a:ext>
            </a:extLst>
          </p:cNvPr>
          <p:cNvGraphicFramePr/>
          <p:nvPr>
            <p:extLst>
              <p:ext uri="{D42A27DB-BD31-4B8C-83A1-F6EECF244321}">
                <p14:modId xmlns:p14="http://schemas.microsoft.com/office/powerpoint/2010/main" val="3280764449"/>
              </p:ext>
            </p:extLst>
          </p:nvPr>
        </p:nvGraphicFramePr>
        <p:xfrm>
          <a:off x="838200" y="3249747"/>
          <a:ext cx="7808036" cy="27757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4944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9250565B-4E64-E5CB-41A5-0DD28802FA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91270-2C68-5F62-7792-99F2BE881BDD}"/>
              </a:ext>
            </a:extLst>
          </p:cNvPr>
          <p:cNvSpPr>
            <a:spLocks noGrp="1"/>
          </p:cNvSpPr>
          <p:nvPr>
            <p:ph idx="1"/>
          </p:nvPr>
        </p:nvSpPr>
        <p:spPr>
          <a:xfrm>
            <a:off x="838200" y="1331355"/>
            <a:ext cx="10515600" cy="5381067"/>
          </a:xfrm>
        </p:spPr>
        <p:txBody>
          <a:bodyPr vert="horz" lIns="91440" tIns="45720" rIns="91440" bIns="45720" rtlCol="0" anchor="t">
            <a:noAutofit/>
          </a:bodyPr>
          <a:lstStyle/>
          <a:p>
            <a:pPr>
              <a:buNone/>
            </a:pPr>
            <a:r>
              <a:rPr lang="en-IN" sz="3200" b="1" i="1">
                <a:ea typeface="+mn-lt"/>
                <a:cs typeface="+mn-lt"/>
              </a:rPr>
              <a:t>This Model Consists of:</a:t>
            </a:r>
            <a:endParaRPr lang="en-US" i="1"/>
          </a:p>
          <a:p>
            <a:pPr>
              <a:buFont typeface="Arial"/>
              <a:buChar char="•"/>
            </a:pPr>
            <a:r>
              <a:rPr lang="en-IN" sz="3200">
                <a:ea typeface="+mn-lt"/>
                <a:cs typeface="+mn-lt"/>
              </a:rPr>
              <a:t>A probabilistic linear model with L2 regularization and assumes Gaussian priors for regression coefficients.</a:t>
            </a:r>
            <a:endParaRPr lang="en-IN">
              <a:ea typeface="+mn-lt"/>
              <a:cs typeface="+mn-lt"/>
            </a:endParaRPr>
          </a:p>
          <a:p>
            <a:pPr>
              <a:buFont typeface="Arial"/>
              <a:buChar char="•"/>
            </a:pPr>
            <a:r>
              <a:rPr lang="en-IN" sz="3200">
                <a:ea typeface="+mn-lt"/>
                <a:cs typeface="+mn-lt"/>
              </a:rPr>
              <a:t>Reduces overfitting and handles noisy or limited data effectively.</a:t>
            </a:r>
            <a:endParaRPr lang="en-IN"/>
          </a:p>
          <a:p>
            <a:pPr>
              <a:buFont typeface="Arial"/>
              <a:buChar char="•"/>
            </a:pPr>
            <a:r>
              <a:rPr lang="en-IN" sz="3200">
                <a:ea typeface="+mn-lt"/>
                <a:cs typeface="+mn-lt"/>
              </a:rPr>
              <a:t>Provides uncertainty estimates, improving prediction reliability.</a:t>
            </a:r>
            <a:endParaRPr lang="en-IN"/>
          </a:p>
          <a:p>
            <a:pPr>
              <a:buFont typeface="Arial"/>
              <a:buChar char="•"/>
            </a:pPr>
            <a:r>
              <a:rPr lang="en-IN" sz="3200">
                <a:ea typeface="+mn-lt"/>
                <a:cs typeface="+mn-lt"/>
              </a:rPr>
              <a:t>Useful for modelling relationships between agricultural inputs and crop yield.</a:t>
            </a:r>
            <a:endParaRPr lang="en-IN"/>
          </a:p>
          <a:p>
            <a:pPr>
              <a:buFont typeface="Arial"/>
              <a:buChar char="•"/>
            </a:pPr>
            <a:r>
              <a:rPr lang="en-IN" sz="3200">
                <a:ea typeface="+mn-lt"/>
                <a:cs typeface="+mn-lt"/>
              </a:rPr>
              <a:t>Supports data-driven decisions in precision agriculture.</a:t>
            </a:r>
            <a:endParaRPr lang="en-IN">
              <a:ea typeface="+mn-lt"/>
              <a:cs typeface="+mn-lt"/>
            </a:endParaRPr>
          </a:p>
          <a:p>
            <a:pPr marL="0" indent="0">
              <a:buNone/>
            </a:pPr>
            <a:endParaRPr lang="en-IN" sz="3200">
              <a:ea typeface="Calibri"/>
              <a:cs typeface="Calibri"/>
            </a:endParaRPr>
          </a:p>
          <a:p>
            <a:endParaRPr lang="en-IN" sz="1200">
              <a:ea typeface="+mn-lt"/>
              <a:cs typeface="+mn-lt"/>
            </a:endParaRPr>
          </a:p>
          <a:p>
            <a:endParaRPr lang="en-IN" sz="1200">
              <a:ea typeface="Calibri"/>
              <a:cs typeface="Calibri"/>
            </a:endParaRPr>
          </a:p>
          <a:p>
            <a:endParaRPr lang="en-IN" sz="1200">
              <a:ea typeface="Calibri"/>
              <a:cs typeface="Calibri"/>
            </a:endParaRPr>
          </a:p>
          <a:p>
            <a:endParaRPr lang="en-IN" sz="1200">
              <a:ea typeface="Calibri"/>
              <a:cs typeface="Calibri"/>
            </a:endParaRPr>
          </a:p>
          <a:p>
            <a:endParaRPr lang="en-IN" sz="1600">
              <a:ea typeface="Calibri"/>
              <a:cs typeface="Calibri"/>
            </a:endParaRPr>
          </a:p>
        </p:txBody>
      </p:sp>
      <p:sp>
        <p:nvSpPr>
          <p:cNvPr id="4" name="Rectangle 3">
            <a:extLst>
              <a:ext uri="{FF2B5EF4-FFF2-40B4-BE49-F238E27FC236}">
                <a16:creationId xmlns:a16="http://schemas.microsoft.com/office/drawing/2014/main" id="{32C1DB78-3F3C-52EE-DBEB-17F5FD43DF90}"/>
              </a:ext>
            </a:extLst>
          </p:cNvPr>
          <p:cNvSpPr/>
          <p:nvPr/>
        </p:nvSpPr>
        <p:spPr>
          <a:xfrm>
            <a:off x="838200" y="607325"/>
            <a:ext cx="7403911" cy="5186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u="sng"/>
              <a:t>Gaussian Ridge Regression Model:</a:t>
            </a:r>
            <a:endParaRPr lang="en-IN" sz="4000"/>
          </a:p>
        </p:txBody>
      </p:sp>
    </p:spTree>
    <p:extLst>
      <p:ext uri="{BB962C8B-B14F-4D97-AF65-F5344CB8AC3E}">
        <p14:creationId xmlns:p14="http://schemas.microsoft.com/office/powerpoint/2010/main" val="2696987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15A4B2C4-4E98-596F-7E34-EC62C1037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1CBF0-D237-EA5B-FB72-4DE31D038000}"/>
              </a:ext>
            </a:extLst>
          </p:cNvPr>
          <p:cNvSpPr>
            <a:spLocks noGrp="1"/>
          </p:cNvSpPr>
          <p:nvPr>
            <p:ph type="title"/>
          </p:nvPr>
        </p:nvSpPr>
        <p:spPr>
          <a:xfrm>
            <a:off x="-5080" y="-635"/>
            <a:ext cx="10515600" cy="1325563"/>
          </a:xfrm>
        </p:spPr>
        <p:txBody>
          <a:bodyPr/>
          <a:lstStyle/>
          <a:p>
            <a:r>
              <a:rPr lang="en-IN" b="1">
                <a:ea typeface="Calibri Light"/>
                <a:cs typeface="Calibri Light"/>
              </a:rPr>
              <a:t>      </a:t>
            </a:r>
            <a:r>
              <a:rPr lang="en-IN" b="1" u="sng">
                <a:ea typeface="Calibri Light"/>
                <a:cs typeface="Calibri Light"/>
              </a:rPr>
              <a:t>Model Validation:</a:t>
            </a:r>
          </a:p>
        </p:txBody>
      </p:sp>
      <p:pic>
        <p:nvPicPr>
          <p:cNvPr id="4" name="Content Placeholder 3" descr="A graph of a graph with blue and orange dots&#10;&#10;AI-generated content may be incorrect.">
            <a:extLst>
              <a:ext uri="{FF2B5EF4-FFF2-40B4-BE49-F238E27FC236}">
                <a16:creationId xmlns:a16="http://schemas.microsoft.com/office/drawing/2014/main" id="{AFC33FA0-2251-813F-97F0-EAEB206442C7}"/>
              </a:ext>
            </a:extLst>
          </p:cNvPr>
          <p:cNvPicPr>
            <a:picLocks noGrp="1" noChangeAspect="1"/>
          </p:cNvPicPr>
          <p:nvPr>
            <p:ph idx="1"/>
          </p:nvPr>
        </p:nvPicPr>
        <p:blipFill>
          <a:blip r:embed="rId2"/>
          <a:stretch>
            <a:fillRect/>
          </a:stretch>
        </p:blipFill>
        <p:spPr>
          <a:xfrm>
            <a:off x="436880" y="1217454"/>
            <a:ext cx="7223760" cy="4348480"/>
          </a:xfrm>
        </p:spPr>
      </p:pic>
      <p:sp>
        <p:nvSpPr>
          <p:cNvPr id="5" name="TextBox 4">
            <a:extLst>
              <a:ext uri="{FF2B5EF4-FFF2-40B4-BE49-F238E27FC236}">
                <a16:creationId xmlns:a16="http://schemas.microsoft.com/office/drawing/2014/main" id="{C8909D59-A703-A492-99CF-342530019D87}"/>
              </a:ext>
            </a:extLst>
          </p:cNvPr>
          <p:cNvSpPr txBox="1"/>
          <p:nvPr/>
        </p:nvSpPr>
        <p:spPr>
          <a:xfrm>
            <a:off x="7661188" y="1219200"/>
            <a:ext cx="4300151"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ea typeface="Calibri"/>
              <a:cs typeface="Calibri"/>
            </a:endParaRPr>
          </a:p>
          <a:p>
            <a:pPr marL="285750" indent="-285750">
              <a:buFont typeface="Arial"/>
              <a:buChar char="•"/>
            </a:pPr>
            <a:r>
              <a:rPr lang="en-US" dirty="0">
                <a:ea typeface="+mn-lt"/>
                <a:cs typeface="+mn-lt"/>
              </a:rPr>
              <a:t>Closer points to the diagonal line mean better accuracy.</a:t>
            </a:r>
            <a:endParaRPr lang="en-US" dirty="0"/>
          </a:p>
          <a:p>
            <a:pPr marL="285750" indent="-285750">
              <a:buFont typeface="Arial"/>
              <a:buChar char="•"/>
            </a:pPr>
            <a:r>
              <a:rPr lang="en-US" dirty="0">
                <a:ea typeface="+mn-lt"/>
                <a:cs typeface="+mn-lt"/>
              </a:rPr>
              <a:t>Training data (blue) aligns closely with the ideal line; test data (orange) shows more spread, as expected.</a:t>
            </a:r>
            <a:endParaRPr lang="en-US" dirty="0"/>
          </a:p>
          <a:p>
            <a:pPr marL="285750" indent="-285750">
              <a:buFont typeface="Arial"/>
              <a:buChar char="•"/>
            </a:pPr>
            <a:r>
              <a:rPr lang="en-US" dirty="0">
                <a:ea typeface="+mn-lt"/>
                <a:cs typeface="+mn-lt"/>
              </a:rPr>
              <a:t>Errors are higher in low-yield cases (&lt;5 ton/ha), especially in test data.</a:t>
            </a:r>
            <a:endParaRPr lang="en-US" dirty="0"/>
          </a:p>
          <a:p>
            <a:pPr marL="285750" indent="-285750">
              <a:buFont typeface="Arial"/>
              <a:buChar char="•"/>
            </a:pPr>
            <a:r>
              <a:rPr lang="en-US" dirty="0">
                <a:ea typeface="+mn-lt"/>
                <a:cs typeface="+mn-lt"/>
              </a:rPr>
              <a:t>Mid to high-yield predictions are accurate, with strong R^2 values and good generalization.</a:t>
            </a:r>
            <a:endParaRPr lang="en-US" dirty="0"/>
          </a:p>
          <a:p>
            <a:pPr marL="285750" indent="-285750">
              <a:buFont typeface="Arial"/>
              <a:buChar char="•"/>
            </a:pPr>
            <a:r>
              <a:rPr lang="en-US" dirty="0">
                <a:ea typeface="+mn-lt"/>
                <a:cs typeface="+mn-lt"/>
              </a:rPr>
              <a:t>Overall, the model is reliable, with slight room for improvement in low-yield predictions.</a:t>
            </a:r>
            <a:endParaRPr lang="en-US" dirty="0"/>
          </a:p>
          <a:p>
            <a:endParaRPr lang="en-US" dirty="0">
              <a:ea typeface="Calibri"/>
              <a:cs typeface="Calibri"/>
            </a:endParaRPr>
          </a:p>
        </p:txBody>
      </p:sp>
    </p:spTree>
    <p:extLst>
      <p:ext uri="{BB962C8B-B14F-4D97-AF65-F5344CB8AC3E}">
        <p14:creationId xmlns:p14="http://schemas.microsoft.com/office/powerpoint/2010/main" val="585815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7277C-4CCF-6909-5086-A1317687715F}"/>
              </a:ext>
            </a:extLst>
          </p:cNvPr>
          <p:cNvSpPr>
            <a:spLocks noGrp="1"/>
          </p:cNvSpPr>
          <p:nvPr>
            <p:ph type="title"/>
          </p:nvPr>
        </p:nvSpPr>
        <p:spPr/>
        <p:txBody>
          <a:bodyPr/>
          <a:lstStyle/>
          <a:p>
            <a:r>
              <a:rPr lang="en-IN" b="1" u="sng"/>
              <a:t>Results Interpretation:</a:t>
            </a:r>
          </a:p>
        </p:txBody>
      </p:sp>
      <p:sp>
        <p:nvSpPr>
          <p:cNvPr id="3" name="Content Placeholder 2">
            <a:extLst>
              <a:ext uri="{FF2B5EF4-FFF2-40B4-BE49-F238E27FC236}">
                <a16:creationId xmlns:a16="http://schemas.microsoft.com/office/drawing/2014/main" id="{4F89C908-1812-1D17-115A-1995F31E8C13}"/>
              </a:ext>
            </a:extLst>
          </p:cNvPr>
          <p:cNvSpPr>
            <a:spLocks noGrp="1"/>
          </p:cNvSpPr>
          <p:nvPr>
            <p:ph idx="1"/>
          </p:nvPr>
        </p:nvSpPr>
        <p:spPr/>
        <p:txBody>
          <a:bodyPr/>
          <a:lstStyle/>
          <a:p>
            <a:r>
              <a:rPr lang="en-US"/>
              <a:t>High accuracy on training and good generalization on test data.</a:t>
            </a:r>
          </a:p>
          <a:p>
            <a:r>
              <a:rPr lang="en-US"/>
              <a:t>Slight performance drop on unseen data is expected but acceptable.</a:t>
            </a:r>
          </a:p>
          <a:p>
            <a:r>
              <a:rPr lang="en-US"/>
              <a:t>Model performs best in </a:t>
            </a:r>
            <a:r>
              <a:rPr lang="en-US" b="1"/>
              <a:t>mid-to-high yield ranges</a:t>
            </a:r>
            <a:r>
              <a:rPr lang="en-US"/>
              <a:t>, slight underperformance in </a:t>
            </a:r>
            <a:r>
              <a:rPr lang="en-US" b="1"/>
              <a:t>low-yield cases</a:t>
            </a:r>
            <a:r>
              <a:rPr lang="en-US"/>
              <a:t>.</a:t>
            </a:r>
            <a:endParaRPr lang="en-IN"/>
          </a:p>
        </p:txBody>
      </p:sp>
    </p:spTree>
    <p:extLst>
      <p:ext uri="{BB962C8B-B14F-4D97-AF65-F5344CB8AC3E}">
        <p14:creationId xmlns:p14="http://schemas.microsoft.com/office/powerpoint/2010/main" val="1149898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F7B04656-816A-8E14-7452-71FEA1267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FD48E-9E17-0970-F0F3-EC7924C2275D}"/>
              </a:ext>
            </a:extLst>
          </p:cNvPr>
          <p:cNvSpPr>
            <a:spLocks noGrp="1"/>
          </p:cNvSpPr>
          <p:nvPr>
            <p:ph type="title"/>
          </p:nvPr>
        </p:nvSpPr>
        <p:spPr/>
        <p:txBody>
          <a:bodyPr/>
          <a:lstStyle/>
          <a:p>
            <a:r>
              <a:rPr lang="en-US" b="1" u="sng"/>
              <a:t>Model Validation and Forecasting:</a:t>
            </a:r>
            <a:endParaRPr lang="en-IN" b="1" u="sng"/>
          </a:p>
        </p:txBody>
      </p:sp>
      <p:sp>
        <p:nvSpPr>
          <p:cNvPr id="12" name="TextBox 11">
            <a:extLst>
              <a:ext uri="{FF2B5EF4-FFF2-40B4-BE49-F238E27FC236}">
                <a16:creationId xmlns:a16="http://schemas.microsoft.com/office/drawing/2014/main" id="{81F771F5-0E8F-2CF9-74EB-94F4F779A7E6}"/>
              </a:ext>
            </a:extLst>
          </p:cNvPr>
          <p:cNvSpPr txBox="1"/>
          <p:nvPr/>
        </p:nvSpPr>
        <p:spPr>
          <a:xfrm>
            <a:off x="742048" y="3472226"/>
            <a:ext cx="1061269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Calibri"/>
                <a:cs typeface="Calibri"/>
              </a:rPr>
              <a:t>Evaluation On Training Dataset</a:t>
            </a:r>
            <a:endParaRPr lang="en-US" sz="2800"/>
          </a:p>
        </p:txBody>
      </p:sp>
      <p:sp>
        <p:nvSpPr>
          <p:cNvPr id="13" name="TextBox 12">
            <a:extLst>
              <a:ext uri="{FF2B5EF4-FFF2-40B4-BE49-F238E27FC236}">
                <a16:creationId xmlns:a16="http://schemas.microsoft.com/office/drawing/2014/main" id="{DAE9EBB8-B6E6-2CB6-44A6-87F6E426F4EA}"/>
              </a:ext>
            </a:extLst>
          </p:cNvPr>
          <p:cNvSpPr txBox="1"/>
          <p:nvPr/>
        </p:nvSpPr>
        <p:spPr>
          <a:xfrm>
            <a:off x="757825" y="6123140"/>
            <a:ext cx="744046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Evaluation On Test Dataset</a:t>
            </a:r>
            <a:endParaRPr lang="en-US"/>
          </a:p>
        </p:txBody>
      </p:sp>
      <p:graphicFrame>
        <p:nvGraphicFramePr>
          <p:cNvPr id="6" name="Content Placeholder 5">
            <a:extLst>
              <a:ext uri="{FF2B5EF4-FFF2-40B4-BE49-F238E27FC236}">
                <a16:creationId xmlns:a16="http://schemas.microsoft.com/office/drawing/2014/main" id="{89940C7B-9396-A465-FF14-A98F497B7BF8}"/>
              </a:ext>
            </a:extLst>
          </p:cNvPr>
          <p:cNvGraphicFramePr>
            <a:graphicFrameLocks noGrp="1"/>
          </p:cNvGraphicFramePr>
          <p:nvPr>
            <p:ph idx="1"/>
            <p:extLst>
              <p:ext uri="{D42A27DB-BD31-4B8C-83A1-F6EECF244321}">
                <p14:modId xmlns:p14="http://schemas.microsoft.com/office/powerpoint/2010/main" val="2576261301"/>
              </p:ext>
            </p:extLst>
          </p:nvPr>
        </p:nvGraphicFramePr>
        <p:xfrm>
          <a:off x="855945" y="1607506"/>
          <a:ext cx="10515596" cy="1828800"/>
        </p:xfrm>
        <a:graphic>
          <a:graphicData uri="http://schemas.openxmlformats.org/drawingml/2006/table">
            <a:tbl>
              <a:tblPr firstRow="1" bandRow="1">
                <a:tableStyleId>{5C22544A-7EE6-4342-B048-85BDC9FD1C3A}</a:tableStyleId>
              </a:tblPr>
              <a:tblGrid>
                <a:gridCol w="2129116">
                  <a:extLst>
                    <a:ext uri="{9D8B030D-6E8A-4147-A177-3AD203B41FA5}">
                      <a16:colId xmlns:a16="http://schemas.microsoft.com/office/drawing/2014/main" val="3522846432"/>
                    </a:ext>
                  </a:extLst>
                </a:gridCol>
                <a:gridCol w="2199154">
                  <a:extLst>
                    <a:ext uri="{9D8B030D-6E8A-4147-A177-3AD203B41FA5}">
                      <a16:colId xmlns:a16="http://schemas.microsoft.com/office/drawing/2014/main" val="2973539002"/>
                    </a:ext>
                  </a:extLst>
                </a:gridCol>
                <a:gridCol w="6187326">
                  <a:extLst>
                    <a:ext uri="{9D8B030D-6E8A-4147-A177-3AD203B41FA5}">
                      <a16:colId xmlns:a16="http://schemas.microsoft.com/office/drawing/2014/main" val="854988330"/>
                    </a:ext>
                  </a:extLst>
                </a:gridCol>
              </a:tblGrid>
              <a:tr h="456554">
                <a:tc>
                  <a:txBody>
                    <a:bodyPr/>
                    <a:lstStyle/>
                    <a:p>
                      <a:pPr lvl="0">
                        <a:buNone/>
                      </a:pPr>
                      <a:r>
                        <a:rPr lang="en-US" sz="2400" b="1" i="0" u="none" strike="noStrike" noProof="0">
                          <a:solidFill>
                            <a:schemeClr val="bg1"/>
                          </a:solidFill>
                          <a:latin typeface="Calibri"/>
                        </a:rPr>
                        <a:t>METRIC</a:t>
                      </a:r>
                      <a:endParaRPr lang="en-US">
                        <a:solidFill>
                          <a:schemeClr val="bg1"/>
                        </a:solidFill>
                      </a:endParaRPr>
                    </a:p>
                  </a:txBody>
                  <a:tcPr>
                    <a:solidFill>
                      <a:schemeClr val="accent6"/>
                    </a:solidFill>
                  </a:tcPr>
                </a:tc>
                <a:tc>
                  <a:txBody>
                    <a:bodyPr/>
                    <a:lstStyle/>
                    <a:p>
                      <a:pPr lvl="0">
                        <a:buNone/>
                      </a:pPr>
                      <a:r>
                        <a:rPr lang="en-US" sz="2400" b="1" i="0" u="none" strike="noStrike" noProof="0">
                          <a:solidFill>
                            <a:schemeClr val="bg1"/>
                          </a:solidFill>
                          <a:latin typeface="Calibri"/>
                        </a:rPr>
                        <a:t>VALUE</a:t>
                      </a:r>
                      <a:endParaRPr lang="en-US">
                        <a:solidFill>
                          <a:schemeClr val="bg1"/>
                        </a:solidFill>
                      </a:endParaRPr>
                    </a:p>
                  </a:txBody>
                  <a:tcPr>
                    <a:solidFill>
                      <a:schemeClr val="accent6"/>
                    </a:solidFill>
                  </a:tcPr>
                </a:tc>
                <a:tc>
                  <a:txBody>
                    <a:bodyPr/>
                    <a:lstStyle/>
                    <a:p>
                      <a:pPr lvl="0">
                        <a:buNone/>
                      </a:pPr>
                      <a:r>
                        <a:rPr lang="en-US" sz="2400" b="1" i="0" u="none" strike="noStrike" noProof="0">
                          <a:solidFill>
                            <a:schemeClr val="bg1"/>
                          </a:solidFill>
                          <a:latin typeface="Calibri"/>
                        </a:rPr>
                        <a:t>INTERPRETATION</a:t>
                      </a:r>
                      <a:endParaRPr lang="en-US">
                        <a:solidFill>
                          <a:schemeClr val="bg1"/>
                        </a:solidFill>
                      </a:endParaRPr>
                    </a:p>
                  </a:txBody>
                  <a:tcPr>
                    <a:solidFill>
                      <a:schemeClr val="accent6"/>
                    </a:solidFill>
                  </a:tcPr>
                </a:tc>
                <a:extLst>
                  <a:ext uri="{0D108BD9-81ED-4DB2-BD59-A6C34878D82A}">
                    <a16:rowId xmlns:a16="http://schemas.microsoft.com/office/drawing/2014/main" val="208282561"/>
                  </a:ext>
                </a:extLst>
              </a:tr>
              <a:tr h="456554">
                <a:tc>
                  <a:txBody>
                    <a:bodyPr/>
                    <a:lstStyle/>
                    <a:p>
                      <a:pPr lvl="0">
                        <a:buNone/>
                      </a:pPr>
                      <a:r>
                        <a:rPr lang="en-US" sz="2400" b="0" i="0" u="none" strike="noStrike" noProof="0">
                          <a:solidFill>
                            <a:srgbClr val="000000"/>
                          </a:solidFill>
                          <a:latin typeface="Calibri"/>
                        </a:rPr>
                        <a:t>RMSE</a:t>
                      </a:r>
                      <a:endParaRPr lang="en-US"/>
                    </a:p>
                  </a:txBody>
                  <a:tcPr>
                    <a:solidFill>
                      <a:schemeClr val="accent6">
                        <a:lumMod val="40000"/>
                        <a:lumOff val="60000"/>
                      </a:schemeClr>
                    </a:solidFill>
                  </a:tcPr>
                </a:tc>
                <a:tc>
                  <a:txBody>
                    <a:bodyPr/>
                    <a:lstStyle/>
                    <a:p>
                      <a:pPr lvl="0">
                        <a:buNone/>
                      </a:pPr>
                      <a:r>
                        <a:rPr lang="en-US" sz="2400" b="0" i="0" u="none" strike="noStrike" noProof="0">
                          <a:solidFill>
                            <a:srgbClr val="000000"/>
                          </a:solidFill>
                          <a:latin typeface="Calibri"/>
                        </a:rPr>
                        <a:t>0.387</a:t>
                      </a:r>
                    </a:p>
                  </a:txBody>
                  <a:tcPr>
                    <a:solidFill>
                      <a:schemeClr val="accent6">
                        <a:lumMod val="40000"/>
                        <a:lumOff val="60000"/>
                      </a:schemeClr>
                    </a:solidFill>
                  </a:tcPr>
                </a:tc>
                <a:tc>
                  <a:txBody>
                    <a:bodyPr/>
                    <a:lstStyle/>
                    <a:p>
                      <a:pPr lvl="0">
                        <a:buNone/>
                      </a:pPr>
                      <a:r>
                        <a:rPr lang="en-US" sz="2400" b="0" i="0" u="none" strike="noStrike" noProof="0">
                          <a:solidFill>
                            <a:srgbClr val="000000"/>
                          </a:solidFill>
                          <a:latin typeface="Calibri"/>
                        </a:rPr>
                        <a:t>Root Mean Squared Error</a:t>
                      </a:r>
                      <a:endParaRPr lang="en-US"/>
                    </a:p>
                  </a:txBody>
                  <a:tcPr>
                    <a:solidFill>
                      <a:schemeClr val="accent6">
                        <a:lumMod val="40000"/>
                        <a:lumOff val="60000"/>
                      </a:schemeClr>
                    </a:solidFill>
                  </a:tcPr>
                </a:tc>
                <a:extLst>
                  <a:ext uri="{0D108BD9-81ED-4DB2-BD59-A6C34878D82A}">
                    <a16:rowId xmlns:a16="http://schemas.microsoft.com/office/drawing/2014/main" val="1133659909"/>
                  </a:ext>
                </a:extLst>
              </a:tr>
              <a:tr h="456554">
                <a:tc>
                  <a:txBody>
                    <a:bodyPr/>
                    <a:lstStyle/>
                    <a:p>
                      <a:pPr lvl="0">
                        <a:buNone/>
                      </a:pPr>
                      <a:r>
                        <a:rPr lang="en-US" sz="2400" b="0" i="0" u="none" strike="noStrike" noProof="0">
                          <a:solidFill>
                            <a:srgbClr val="000000"/>
                          </a:solidFill>
                          <a:latin typeface="Calibri"/>
                        </a:rPr>
                        <a:t>R^2</a:t>
                      </a:r>
                      <a:endParaRPr lang="en-US"/>
                    </a:p>
                  </a:txBody>
                  <a:tcPr>
                    <a:solidFill>
                      <a:schemeClr val="bg1">
                        <a:lumMod val="95000"/>
                      </a:schemeClr>
                    </a:solidFill>
                  </a:tcPr>
                </a:tc>
                <a:tc>
                  <a:txBody>
                    <a:bodyPr/>
                    <a:lstStyle/>
                    <a:p>
                      <a:pPr lvl="0">
                        <a:buNone/>
                      </a:pPr>
                      <a:r>
                        <a:rPr lang="en-US" sz="2400" b="0" i="0" u="none" strike="noStrike" noProof="0">
                          <a:solidFill>
                            <a:srgbClr val="000000"/>
                          </a:solidFill>
                          <a:latin typeface="Calibri"/>
                        </a:rPr>
                        <a:t>96.10%</a:t>
                      </a:r>
                    </a:p>
                  </a:txBody>
                  <a:tcPr>
                    <a:solidFill>
                      <a:schemeClr val="bg1">
                        <a:lumMod val="95000"/>
                      </a:schemeClr>
                    </a:solidFill>
                  </a:tcPr>
                </a:tc>
                <a:tc>
                  <a:txBody>
                    <a:bodyPr/>
                    <a:lstStyle/>
                    <a:p>
                      <a:pPr lvl="0">
                        <a:buNone/>
                      </a:pPr>
                      <a:r>
                        <a:rPr lang="en-US" sz="2400" b="0" i="0" u="none" strike="noStrike" noProof="0">
                          <a:solidFill>
                            <a:srgbClr val="000000"/>
                          </a:solidFill>
                          <a:latin typeface="Calibri"/>
                        </a:rPr>
                        <a:t>Model explains 96.10% of variance</a:t>
                      </a:r>
                      <a:endParaRPr lang="en-US"/>
                    </a:p>
                  </a:txBody>
                  <a:tcPr>
                    <a:solidFill>
                      <a:schemeClr val="bg1">
                        <a:lumMod val="95000"/>
                      </a:schemeClr>
                    </a:solidFill>
                  </a:tcPr>
                </a:tc>
                <a:extLst>
                  <a:ext uri="{0D108BD9-81ED-4DB2-BD59-A6C34878D82A}">
                    <a16:rowId xmlns:a16="http://schemas.microsoft.com/office/drawing/2014/main" val="2109837458"/>
                  </a:ext>
                </a:extLst>
              </a:tr>
              <a:tr h="456554">
                <a:tc>
                  <a:txBody>
                    <a:bodyPr/>
                    <a:lstStyle/>
                    <a:p>
                      <a:pPr lvl="0">
                        <a:buNone/>
                      </a:pPr>
                      <a:r>
                        <a:rPr lang="en-US" sz="2400" b="0" i="0" u="none" strike="noStrike" noProof="0">
                          <a:solidFill>
                            <a:srgbClr val="000000"/>
                          </a:solidFill>
                          <a:latin typeface="Calibri"/>
                        </a:rPr>
                        <a:t>Adjusted R^2</a:t>
                      </a:r>
                      <a:endParaRPr lang="en-US"/>
                    </a:p>
                  </a:txBody>
                  <a:tcPr>
                    <a:solidFill>
                      <a:schemeClr val="accent6">
                        <a:lumMod val="20000"/>
                        <a:lumOff val="80000"/>
                      </a:schemeClr>
                    </a:solidFill>
                  </a:tcPr>
                </a:tc>
                <a:tc>
                  <a:txBody>
                    <a:bodyPr/>
                    <a:lstStyle/>
                    <a:p>
                      <a:pPr lvl="0">
                        <a:buNone/>
                      </a:pPr>
                      <a:r>
                        <a:rPr lang="en-US" sz="2400" b="0" i="0" u="none" strike="noStrike" noProof="0">
                          <a:solidFill>
                            <a:srgbClr val="000000"/>
                          </a:solidFill>
                          <a:latin typeface="Calibri"/>
                        </a:rPr>
                        <a:t>91.6%</a:t>
                      </a:r>
                    </a:p>
                  </a:txBody>
                  <a:tcPr>
                    <a:solidFill>
                      <a:schemeClr val="accent6">
                        <a:lumMod val="20000"/>
                        <a:lumOff val="80000"/>
                      </a:schemeClr>
                    </a:solidFill>
                  </a:tcPr>
                </a:tc>
                <a:tc>
                  <a:txBody>
                    <a:bodyPr/>
                    <a:lstStyle/>
                    <a:p>
                      <a:pPr lvl="0">
                        <a:buNone/>
                      </a:pPr>
                      <a:r>
                        <a:rPr lang="en-US" sz="2400" b="0" i="0" u="none" strike="noStrike" noProof="0">
                          <a:solidFill>
                            <a:srgbClr val="000000"/>
                          </a:solidFill>
                          <a:latin typeface="Calibri"/>
                        </a:rPr>
                        <a:t>Model explains 91.6% of variance</a:t>
                      </a:r>
                      <a:endParaRPr lang="en-US"/>
                    </a:p>
                  </a:txBody>
                  <a:tcPr>
                    <a:solidFill>
                      <a:schemeClr val="accent6">
                        <a:lumMod val="20000"/>
                        <a:lumOff val="80000"/>
                      </a:schemeClr>
                    </a:solidFill>
                  </a:tcPr>
                </a:tc>
                <a:extLst>
                  <a:ext uri="{0D108BD9-81ED-4DB2-BD59-A6C34878D82A}">
                    <a16:rowId xmlns:a16="http://schemas.microsoft.com/office/drawing/2014/main" val="1780791375"/>
                  </a:ext>
                </a:extLst>
              </a:tr>
            </a:tbl>
          </a:graphicData>
        </a:graphic>
      </p:graphicFrame>
      <p:graphicFrame>
        <p:nvGraphicFramePr>
          <p:cNvPr id="8" name="Content Placeholder 5">
            <a:extLst>
              <a:ext uri="{FF2B5EF4-FFF2-40B4-BE49-F238E27FC236}">
                <a16:creationId xmlns:a16="http://schemas.microsoft.com/office/drawing/2014/main" id="{475A8FCE-5DE6-6243-FC4C-7CEC5E37935E}"/>
              </a:ext>
            </a:extLst>
          </p:cNvPr>
          <p:cNvGraphicFramePr>
            <a:graphicFrameLocks/>
          </p:cNvGraphicFramePr>
          <p:nvPr>
            <p:extLst>
              <p:ext uri="{D42A27DB-BD31-4B8C-83A1-F6EECF244321}">
                <p14:modId xmlns:p14="http://schemas.microsoft.com/office/powerpoint/2010/main" val="369067149"/>
              </p:ext>
            </p:extLst>
          </p:nvPr>
        </p:nvGraphicFramePr>
        <p:xfrm>
          <a:off x="851769" y="4296426"/>
          <a:ext cx="10515596" cy="1828800"/>
        </p:xfrm>
        <a:graphic>
          <a:graphicData uri="http://schemas.openxmlformats.org/drawingml/2006/table">
            <a:tbl>
              <a:tblPr firstRow="1" bandRow="1">
                <a:tableStyleId>{5C22544A-7EE6-4342-B048-85BDC9FD1C3A}</a:tableStyleId>
              </a:tblPr>
              <a:tblGrid>
                <a:gridCol w="2129116">
                  <a:extLst>
                    <a:ext uri="{9D8B030D-6E8A-4147-A177-3AD203B41FA5}">
                      <a16:colId xmlns:a16="http://schemas.microsoft.com/office/drawing/2014/main" val="3522846432"/>
                    </a:ext>
                  </a:extLst>
                </a:gridCol>
                <a:gridCol w="2199154">
                  <a:extLst>
                    <a:ext uri="{9D8B030D-6E8A-4147-A177-3AD203B41FA5}">
                      <a16:colId xmlns:a16="http://schemas.microsoft.com/office/drawing/2014/main" val="2973539002"/>
                    </a:ext>
                  </a:extLst>
                </a:gridCol>
                <a:gridCol w="6187326">
                  <a:extLst>
                    <a:ext uri="{9D8B030D-6E8A-4147-A177-3AD203B41FA5}">
                      <a16:colId xmlns:a16="http://schemas.microsoft.com/office/drawing/2014/main" val="854988330"/>
                    </a:ext>
                  </a:extLst>
                </a:gridCol>
              </a:tblGrid>
              <a:tr h="456554">
                <a:tc>
                  <a:txBody>
                    <a:bodyPr/>
                    <a:lstStyle/>
                    <a:p>
                      <a:pPr lvl="0">
                        <a:buNone/>
                      </a:pPr>
                      <a:r>
                        <a:rPr lang="en-US" sz="2400" b="1" i="0" u="none" strike="noStrike" noProof="0">
                          <a:solidFill>
                            <a:schemeClr val="bg1"/>
                          </a:solidFill>
                          <a:latin typeface="Calibri"/>
                        </a:rPr>
                        <a:t>METRIC</a:t>
                      </a:r>
                      <a:endParaRPr lang="en-US">
                        <a:solidFill>
                          <a:schemeClr val="bg1"/>
                        </a:solidFill>
                      </a:endParaRPr>
                    </a:p>
                  </a:txBody>
                  <a:tcPr>
                    <a:solidFill>
                      <a:schemeClr val="accent6"/>
                    </a:solidFill>
                  </a:tcPr>
                </a:tc>
                <a:tc>
                  <a:txBody>
                    <a:bodyPr/>
                    <a:lstStyle/>
                    <a:p>
                      <a:pPr lvl="0">
                        <a:buNone/>
                      </a:pPr>
                      <a:r>
                        <a:rPr lang="en-US" sz="2400" b="1" i="0" u="none" strike="noStrike" noProof="0">
                          <a:solidFill>
                            <a:schemeClr val="bg1"/>
                          </a:solidFill>
                          <a:latin typeface="Calibri"/>
                        </a:rPr>
                        <a:t>VALUE</a:t>
                      </a:r>
                      <a:endParaRPr lang="en-US">
                        <a:solidFill>
                          <a:schemeClr val="bg1"/>
                        </a:solidFill>
                      </a:endParaRPr>
                    </a:p>
                  </a:txBody>
                  <a:tcPr>
                    <a:solidFill>
                      <a:schemeClr val="accent6"/>
                    </a:solidFill>
                  </a:tcPr>
                </a:tc>
                <a:tc>
                  <a:txBody>
                    <a:bodyPr/>
                    <a:lstStyle/>
                    <a:p>
                      <a:pPr lvl="0">
                        <a:buNone/>
                      </a:pPr>
                      <a:r>
                        <a:rPr lang="en-US" sz="2400" b="1" i="0" u="none" strike="noStrike" noProof="0">
                          <a:solidFill>
                            <a:schemeClr val="bg1"/>
                          </a:solidFill>
                          <a:latin typeface="Calibri"/>
                        </a:rPr>
                        <a:t>INTERPRETATION</a:t>
                      </a:r>
                      <a:endParaRPr lang="en-US">
                        <a:solidFill>
                          <a:schemeClr val="bg1"/>
                        </a:solidFill>
                      </a:endParaRPr>
                    </a:p>
                  </a:txBody>
                  <a:tcPr>
                    <a:solidFill>
                      <a:schemeClr val="accent6"/>
                    </a:solidFill>
                  </a:tcPr>
                </a:tc>
                <a:extLst>
                  <a:ext uri="{0D108BD9-81ED-4DB2-BD59-A6C34878D82A}">
                    <a16:rowId xmlns:a16="http://schemas.microsoft.com/office/drawing/2014/main" val="208282561"/>
                  </a:ext>
                </a:extLst>
              </a:tr>
              <a:tr h="456554">
                <a:tc>
                  <a:txBody>
                    <a:bodyPr/>
                    <a:lstStyle/>
                    <a:p>
                      <a:pPr lvl="0">
                        <a:buNone/>
                      </a:pPr>
                      <a:r>
                        <a:rPr lang="en-US" sz="2400" b="0" i="0" u="none" strike="noStrike" noProof="0">
                          <a:solidFill>
                            <a:srgbClr val="000000"/>
                          </a:solidFill>
                          <a:latin typeface="Calibri"/>
                        </a:rPr>
                        <a:t>RMSE</a:t>
                      </a:r>
                      <a:endParaRPr lang="en-US"/>
                    </a:p>
                  </a:txBody>
                  <a:tcPr>
                    <a:solidFill>
                      <a:schemeClr val="accent6">
                        <a:lumMod val="40000"/>
                        <a:lumOff val="60000"/>
                      </a:schemeClr>
                    </a:solidFill>
                  </a:tcPr>
                </a:tc>
                <a:tc>
                  <a:txBody>
                    <a:bodyPr/>
                    <a:lstStyle/>
                    <a:p>
                      <a:pPr lvl="0">
                        <a:buNone/>
                      </a:pPr>
                      <a:r>
                        <a:rPr lang="en-US" sz="2400" b="0" i="0" u="none" strike="noStrike" noProof="0">
                          <a:solidFill>
                            <a:srgbClr val="000000"/>
                          </a:solidFill>
                          <a:latin typeface="Calibri"/>
                        </a:rPr>
                        <a:t>0.846</a:t>
                      </a:r>
                    </a:p>
                  </a:txBody>
                  <a:tcPr>
                    <a:solidFill>
                      <a:schemeClr val="accent6">
                        <a:lumMod val="40000"/>
                        <a:lumOff val="60000"/>
                      </a:schemeClr>
                    </a:solidFill>
                  </a:tcPr>
                </a:tc>
                <a:tc>
                  <a:txBody>
                    <a:bodyPr/>
                    <a:lstStyle/>
                    <a:p>
                      <a:pPr lvl="0">
                        <a:buNone/>
                      </a:pPr>
                      <a:r>
                        <a:rPr lang="en-US" sz="2400" b="0" i="0" u="none" strike="noStrike" noProof="0">
                          <a:solidFill>
                            <a:srgbClr val="000000"/>
                          </a:solidFill>
                          <a:latin typeface="Calibri"/>
                        </a:rPr>
                        <a:t>Root Mean Squared Error</a:t>
                      </a:r>
                      <a:endParaRPr lang="en-US"/>
                    </a:p>
                  </a:txBody>
                  <a:tcPr>
                    <a:solidFill>
                      <a:schemeClr val="accent6">
                        <a:lumMod val="40000"/>
                        <a:lumOff val="60000"/>
                      </a:schemeClr>
                    </a:solidFill>
                  </a:tcPr>
                </a:tc>
                <a:extLst>
                  <a:ext uri="{0D108BD9-81ED-4DB2-BD59-A6C34878D82A}">
                    <a16:rowId xmlns:a16="http://schemas.microsoft.com/office/drawing/2014/main" val="1133659909"/>
                  </a:ext>
                </a:extLst>
              </a:tr>
              <a:tr h="456554">
                <a:tc>
                  <a:txBody>
                    <a:bodyPr/>
                    <a:lstStyle/>
                    <a:p>
                      <a:pPr lvl="0">
                        <a:buNone/>
                      </a:pPr>
                      <a:r>
                        <a:rPr lang="en-US" sz="2400" b="0" i="0" u="none" strike="noStrike" noProof="0">
                          <a:solidFill>
                            <a:srgbClr val="000000"/>
                          </a:solidFill>
                          <a:latin typeface="Calibri"/>
                        </a:rPr>
                        <a:t>R^2</a:t>
                      </a:r>
                      <a:endParaRPr lang="en-US"/>
                    </a:p>
                  </a:txBody>
                  <a:tcPr>
                    <a:solidFill>
                      <a:schemeClr val="bg1">
                        <a:lumMod val="95000"/>
                      </a:schemeClr>
                    </a:solidFill>
                  </a:tcPr>
                </a:tc>
                <a:tc>
                  <a:txBody>
                    <a:bodyPr/>
                    <a:lstStyle/>
                    <a:p>
                      <a:pPr lvl="0">
                        <a:buNone/>
                      </a:pPr>
                      <a:r>
                        <a:rPr lang="en-US" sz="2400" b="0" i="0" u="none" strike="noStrike" noProof="0">
                          <a:solidFill>
                            <a:srgbClr val="000000"/>
                          </a:solidFill>
                          <a:latin typeface="Calibri"/>
                        </a:rPr>
                        <a:t>86.67%</a:t>
                      </a:r>
                    </a:p>
                  </a:txBody>
                  <a:tcPr>
                    <a:solidFill>
                      <a:schemeClr val="bg1">
                        <a:lumMod val="95000"/>
                      </a:schemeClr>
                    </a:solidFill>
                  </a:tcPr>
                </a:tc>
                <a:tc>
                  <a:txBody>
                    <a:bodyPr/>
                    <a:lstStyle/>
                    <a:p>
                      <a:pPr lvl="0">
                        <a:buNone/>
                      </a:pPr>
                      <a:r>
                        <a:rPr lang="en-US" sz="2400" b="0" i="0" u="none" strike="noStrike" noProof="0">
                          <a:solidFill>
                            <a:srgbClr val="000000"/>
                          </a:solidFill>
                          <a:latin typeface="Calibri"/>
                        </a:rPr>
                        <a:t>Model explains 86.67% of variance</a:t>
                      </a:r>
                      <a:endParaRPr lang="en-US"/>
                    </a:p>
                  </a:txBody>
                  <a:tcPr>
                    <a:solidFill>
                      <a:schemeClr val="bg1">
                        <a:lumMod val="95000"/>
                      </a:schemeClr>
                    </a:solidFill>
                  </a:tcPr>
                </a:tc>
                <a:extLst>
                  <a:ext uri="{0D108BD9-81ED-4DB2-BD59-A6C34878D82A}">
                    <a16:rowId xmlns:a16="http://schemas.microsoft.com/office/drawing/2014/main" val="2109837458"/>
                  </a:ext>
                </a:extLst>
              </a:tr>
              <a:tr h="456554">
                <a:tc>
                  <a:txBody>
                    <a:bodyPr/>
                    <a:lstStyle/>
                    <a:p>
                      <a:pPr lvl="0">
                        <a:buNone/>
                      </a:pPr>
                      <a:r>
                        <a:rPr lang="en-US" sz="2400" b="0" i="0" u="none" strike="noStrike" noProof="0">
                          <a:solidFill>
                            <a:srgbClr val="000000"/>
                          </a:solidFill>
                          <a:latin typeface="Calibri"/>
                        </a:rPr>
                        <a:t>Adjusted R^2</a:t>
                      </a:r>
                      <a:endParaRPr lang="en-US"/>
                    </a:p>
                  </a:txBody>
                  <a:tcPr>
                    <a:solidFill>
                      <a:schemeClr val="accent6">
                        <a:lumMod val="20000"/>
                        <a:lumOff val="80000"/>
                      </a:schemeClr>
                    </a:solidFill>
                  </a:tcPr>
                </a:tc>
                <a:tc>
                  <a:txBody>
                    <a:bodyPr/>
                    <a:lstStyle/>
                    <a:p>
                      <a:pPr lvl="0">
                        <a:buNone/>
                      </a:pPr>
                      <a:r>
                        <a:rPr lang="en-US" sz="2400" b="0" i="0" u="none" strike="noStrike" noProof="0">
                          <a:solidFill>
                            <a:srgbClr val="000000"/>
                          </a:solidFill>
                          <a:latin typeface="Calibri"/>
                        </a:rPr>
                        <a:t>96.5%</a:t>
                      </a:r>
                    </a:p>
                  </a:txBody>
                  <a:tcPr>
                    <a:solidFill>
                      <a:schemeClr val="accent6">
                        <a:lumMod val="20000"/>
                        <a:lumOff val="80000"/>
                      </a:schemeClr>
                    </a:solidFill>
                  </a:tcPr>
                </a:tc>
                <a:tc>
                  <a:txBody>
                    <a:bodyPr/>
                    <a:lstStyle/>
                    <a:p>
                      <a:pPr lvl="0">
                        <a:buNone/>
                      </a:pPr>
                      <a:r>
                        <a:rPr lang="en-US" sz="2400" b="0" i="0" u="none" strike="noStrike" noProof="0">
                          <a:solidFill>
                            <a:srgbClr val="000000"/>
                          </a:solidFill>
                          <a:latin typeface="Calibri"/>
                        </a:rPr>
                        <a:t>Model explains 96.5% of variance</a:t>
                      </a:r>
                      <a:endParaRPr lang="en-US"/>
                    </a:p>
                  </a:txBody>
                  <a:tcPr>
                    <a:solidFill>
                      <a:schemeClr val="accent6">
                        <a:lumMod val="20000"/>
                        <a:lumOff val="80000"/>
                      </a:schemeClr>
                    </a:solidFill>
                  </a:tcPr>
                </a:tc>
                <a:extLst>
                  <a:ext uri="{0D108BD9-81ED-4DB2-BD59-A6C34878D82A}">
                    <a16:rowId xmlns:a16="http://schemas.microsoft.com/office/drawing/2014/main" val="1780791375"/>
                  </a:ext>
                </a:extLst>
              </a:tr>
            </a:tbl>
          </a:graphicData>
        </a:graphic>
      </p:graphicFrame>
    </p:spTree>
    <p:extLst>
      <p:ext uri="{BB962C8B-B14F-4D97-AF65-F5344CB8AC3E}">
        <p14:creationId xmlns:p14="http://schemas.microsoft.com/office/powerpoint/2010/main" val="4148158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CD46-F140-B1B1-3356-776A6C560E4F}"/>
              </a:ext>
            </a:extLst>
          </p:cNvPr>
          <p:cNvSpPr>
            <a:spLocks noGrp="1"/>
          </p:cNvSpPr>
          <p:nvPr>
            <p:ph type="title"/>
          </p:nvPr>
        </p:nvSpPr>
        <p:spPr/>
        <p:txBody>
          <a:bodyPr/>
          <a:lstStyle/>
          <a:p>
            <a:r>
              <a:rPr lang="en-IN" b="1" u="sng"/>
              <a:t>Feature Contribution Analysis:</a:t>
            </a:r>
          </a:p>
        </p:txBody>
      </p:sp>
      <p:graphicFrame>
        <p:nvGraphicFramePr>
          <p:cNvPr id="4" name="Content Placeholder 3">
            <a:extLst>
              <a:ext uri="{FF2B5EF4-FFF2-40B4-BE49-F238E27FC236}">
                <a16:creationId xmlns:a16="http://schemas.microsoft.com/office/drawing/2014/main" id="{E7661B80-8542-8A3B-0A23-F876A2027DF8}"/>
              </a:ext>
            </a:extLst>
          </p:cNvPr>
          <p:cNvGraphicFramePr>
            <a:graphicFrameLocks noGrp="1"/>
          </p:cNvGraphicFramePr>
          <p:nvPr>
            <p:ph idx="1"/>
            <p:extLst>
              <p:ext uri="{D42A27DB-BD31-4B8C-83A1-F6EECF244321}">
                <p14:modId xmlns:p14="http://schemas.microsoft.com/office/powerpoint/2010/main" val="3400468721"/>
              </p:ext>
            </p:extLst>
          </p:nvPr>
        </p:nvGraphicFramePr>
        <p:xfrm>
          <a:off x="838200" y="1690688"/>
          <a:ext cx="10515600" cy="2226917"/>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3029801512"/>
                    </a:ext>
                  </a:extLst>
                </a:gridCol>
                <a:gridCol w="5257800">
                  <a:extLst>
                    <a:ext uri="{9D8B030D-6E8A-4147-A177-3AD203B41FA5}">
                      <a16:colId xmlns:a16="http://schemas.microsoft.com/office/drawing/2014/main" val="2359425706"/>
                    </a:ext>
                  </a:extLst>
                </a:gridCol>
              </a:tblGrid>
              <a:tr h="372717">
                <a:tc>
                  <a:txBody>
                    <a:bodyPr/>
                    <a:lstStyle/>
                    <a:p>
                      <a:r>
                        <a:rPr lang="en-US"/>
                        <a:t>Feature</a:t>
                      </a:r>
                      <a:endParaRPr lang="en-IN"/>
                    </a:p>
                  </a:txBody>
                  <a:tcPr/>
                </a:tc>
                <a:tc>
                  <a:txBody>
                    <a:bodyPr/>
                    <a:lstStyle/>
                    <a:p>
                      <a:r>
                        <a:rPr lang="en-IN"/>
                        <a:t>MSE Contribution</a:t>
                      </a:r>
                    </a:p>
                  </a:txBody>
                  <a:tcPr/>
                </a:tc>
                <a:extLst>
                  <a:ext uri="{0D108BD9-81ED-4DB2-BD59-A6C34878D82A}">
                    <a16:rowId xmlns:a16="http://schemas.microsoft.com/office/drawing/2014/main" val="431533526"/>
                  </a:ext>
                </a:extLst>
              </a:tr>
              <a:tr h="370840">
                <a:tc>
                  <a:txBody>
                    <a:bodyPr/>
                    <a:lstStyle/>
                    <a:p>
                      <a:r>
                        <a:rPr lang="en-IN" err="1"/>
                        <a:t>Avg</a:t>
                      </a:r>
                      <a:r>
                        <a:rPr lang="en-IN"/>
                        <a:t> Temp (°C) </a:t>
                      </a:r>
                    </a:p>
                  </a:txBody>
                  <a:tcPr/>
                </a:tc>
                <a:tc>
                  <a:txBody>
                    <a:bodyPr/>
                    <a:lstStyle/>
                    <a:p>
                      <a:r>
                        <a:rPr lang="en-IN"/>
                        <a:t>3.599122</a:t>
                      </a:r>
                    </a:p>
                  </a:txBody>
                  <a:tcPr/>
                </a:tc>
                <a:extLst>
                  <a:ext uri="{0D108BD9-81ED-4DB2-BD59-A6C34878D82A}">
                    <a16:rowId xmlns:a16="http://schemas.microsoft.com/office/drawing/2014/main" val="1170385303"/>
                  </a:ext>
                </a:extLst>
              </a:tr>
              <a:tr h="370840">
                <a:tc>
                  <a:txBody>
                    <a:bodyPr/>
                    <a:lstStyle/>
                    <a:p>
                      <a:r>
                        <a:rPr lang="en-IN"/>
                        <a:t>Fertilizer (kg/ha) </a:t>
                      </a:r>
                    </a:p>
                  </a:txBody>
                  <a:tcPr/>
                </a:tc>
                <a:tc>
                  <a:txBody>
                    <a:bodyPr/>
                    <a:lstStyle/>
                    <a:p>
                      <a:r>
                        <a:rPr lang="en-IN"/>
                        <a:t>0.540140</a:t>
                      </a:r>
                    </a:p>
                  </a:txBody>
                  <a:tcPr/>
                </a:tc>
                <a:extLst>
                  <a:ext uri="{0D108BD9-81ED-4DB2-BD59-A6C34878D82A}">
                    <a16:rowId xmlns:a16="http://schemas.microsoft.com/office/drawing/2014/main" val="808064072"/>
                  </a:ext>
                </a:extLst>
              </a:tr>
              <a:tr h="370840">
                <a:tc>
                  <a:txBody>
                    <a:bodyPr/>
                    <a:lstStyle/>
                    <a:p>
                      <a:r>
                        <a:rPr lang="en-IN"/>
                        <a:t>Technology Index </a:t>
                      </a:r>
                    </a:p>
                  </a:txBody>
                  <a:tcPr/>
                </a:tc>
                <a:tc>
                  <a:txBody>
                    <a:bodyPr/>
                    <a:lstStyle/>
                    <a:p>
                      <a:r>
                        <a:rPr lang="en-IN"/>
                        <a:t>0.355052</a:t>
                      </a:r>
                    </a:p>
                  </a:txBody>
                  <a:tcPr/>
                </a:tc>
                <a:extLst>
                  <a:ext uri="{0D108BD9-81ED-4DB2-BD59-A6C34878D82A}">
                    <a16:rowId xmlns:a16="http://schemas.microsoft.com/office/drawing/2014/main" val="2162199355"/>
                  </a:ext>
                </a:extLst>
              </a:tr>
              <a:tr h="370840">
                <a:tc>
                  <a:txBody>
                    <a:bodyPr/>
                    <a:lstStyle/>
                    <a:p>
                      <a:r>
                        <a:rPr lang="en-IN"/>
                        <a:t>Rainfall (mm) </a:t>
                      </a:r>
                    </a:p>
                  </a:txBody>
                  <a:tcPr/>
                </a:tc>
                <a:tc>
                  <a:txBody>
                    <a:bodyPr/>
                    <a:lstStyle/>
                    <a:p>
                      <a:r>
                        <a:rPr lang="en-IN"/>
                        <a:t>0.091410</a:t>
                      </a:r>
                    </a:p>
                  </a:txBody>
                  <a:tcPr/>
                </a:tc>
                <a:extLst>
                  <a:ext uri="{0D108BD9-81ED-4DB2-BD59-A6C34878D82A}">
                    <a16:rowId xmlns:a16="http://schemas.microsoft.com/office/drawing/2014/main" val="1093425321"/>
                  </a:ext>
                </a:extLst>
              </a:tr>
              <a:tr h="370840">
                <a:tc>
                  <a:txBody>
                    <a:bodyPr/>
                    <a:lstStyle/>
                    <a:p>
                      <a:r>
                        <a:rPr lang="en-IN"/>
                        <a:t>Pest Incidents </a:t>
                      </a:r>
                    </a:p>
                  </a:txBody>
                  <a:tcPr/>
                </a:tc>
                <a:tc>
                  <a:txBody>
                    <a:bodyPr/>
                    <a:lstStyle/>
                    <a:p>
                      <a:r>
                        <a:rPr lang="en-IN"/>
                        <a:t>0.015407</a:t>
                      </a:r>
                    </a:p>
                  </a:txBody>
                  <a:tcPr/>
                </a:tc>
                <a:extLst>
                  <a:ext uri="{0D108BD9-81ED-4DB2-BD59-A6C34878D82A}">
                    <a16:rowId xmlns:a16="http://schemas.microsoft.com/office/drawing/2014/main" val="3784699682"/>
                  </a:ext>
                </a:extLst>
              </a:tr>
            </a:tbl>
          </a:graphicData>
        </a:graphic>
      </p:graphicFrame>
      <p:sp>
        <p:nvSpPr>
          <p:cNvPr id="5" name="TextBox 4">
            <a:extLst>
              <a:ext uri="{FF2B5EF4-FFF2-40B4-BE49-F238E27FC236}">
                <a16:creationId xmlns:a16="http://schemas.microsoft.com/office/drawing/2014/main" id="{73C33708-3AB3-E60B-7939-9BCFFCA97D0B}"/>
              </a:ext>
            </a:extLst>
          </p:cNvPr>
          <p:cNvSpPr txBox="1"/>
          <p:nvPr/>
        </p:nvSpPr>
        <p:spPr>
          <a:xfrm>
            <a:off x="770443" y="4351704"/>
            <a:ext cx="10808661" cy="1631216"/>
          </a:xfrm>
          <a:prstGeom prst="rect">
            <a:avLst/>
          </a:prstGeom>
          <a:noFill/>
        </p:spPr>
        <p:txBody>
          <a:bodyPr wrap="square" lIns="91440" tIns="45720" rIns="91440" bIns="45720" rtlCol="0" anchor="t">
            <a:spAutoFit/>
          </a:bodyPr>
          <a:lstStyle/>
          <a:p>
            <a:pPr marL="0" marR="0" lvl="0" indent="0" algn="l" defTabSz="914400" rtl="0" eaLnBrk="0" fontAlgn="base" latinLnBrk="0" hangingPunct="0">
              <a:lnSpc>
                <a:spcPct val="100000"/>
              </a:lnSpc>
              <a:spcBef>
                <a:spcPct val="0"/>
              </a:spcBef>
              <a:spcAft>
                <a:spcPct val="0"/>
              </a:spcAft>
              <a:buClrTx/>
              <a:buSzTx/>
              <a:buFont typeface="Arial"/>
              <a:buChar char="•"/>
              <a:tabLst/>
            </a:pPr>
            <a:r>
              <a:rPr kumimoji="0" lang="en-US" altLang="en-US" sz="2000" b="1" i="1" u="none" strike="noStrike" cap="none" normalizeH="0" baseline="0" dirty="0">
                <a:ln>
                  <a:noFill/>
                </a:ln>
                <a:effectLst/>
                <a:latin typeface="Arial"/>
                <a:cs typeface="Arial"/>
              </a:rPr>
              <a:t>Avg Temperature</a:t>
            </a:r>
            <a:r>
              <a:rPr kumimoji="0" lang="en-US" altLang="en-US" sz="2000" b="0" i="0" u="none" strike="noStrike" cap="none" normalizeH="0" baseline="0" dirty="0">
                <a:ln>
                  <a:noFill/>
                </a:ln>
                <a:effectLst/>
                <a:latin typeface="Arial"/>
                <a:cs typeface="Arial"/>
              </a:rPr>
              <a:t> is the most influential predictor, followed by </a:t>
            </a:r>
            <a:r>
              <a:rPr kumimoji="0" lang="en-US" altLang="en-US" sz="2000" b="1" i="1" u="none" strike="noStrike" cap="none" normalizeH="0" baseline="0" dirty="0">
                <a:ln>
                  <a:noFill/>
                </a:ln>
                <a:effectLst/>
                <a:latin typeface="Arial"/>
                <a:cs typeface="Arial"/>
              </a:rPr>
              <a:t>Fertilizer</a:t>
            </a:r>
            <a:r>
              <a:rPr kumimoji="0" lang="en-US" altLang="en-US" sz="2000" b="0" i="0" u="none" strike="noStrike" cap="none" normalizeH="0" baseline="0" dirty="0">
                <a:ln>
                  <a:noFill/>
                </a:ln>
                <a:effectLst/>
                <a:latin typeface="Arial"/>
                <a:cs typeface="Arial"/>
              </a:rPr>
              <a:t> and </a:t>
            </a:r>
            <a:r>
              <a:rPr kumimoji="0" lang="en-US" altLang="en-US" sz="2000" b="1" i="1" u="none" strike="noStrike" cap="none" normalizeH="0" baseline="0" dirty="0">
                <a:ln>
                  <a:noFill/>
                </a:ln>
                <a:effectLst/>
                <a:latin typeface="Arial"/>
                <a:cs typeface="Arial"/>
              </a:rPr>
              <a:t>Tech Index</a:t>
            </a:r>
            <a:r>
              <a:rPr kumimoji="0" lang="en-US" altLang="en-US" sz="2000" b="0" i="0" u="none" strike="noStrike" cap="none" normalizeH="0" baseline="0" dirty="0">
                <a:ln>
                  <a:noFill/>
                </a:ln>
                <a:effectLst/>
                <a:latin typeface="Arial"/>
                <a:cs typeface="Arial"/>
              </a:rPr>
              <a:t>.</a:t>
            </a:r>
            <a:endParaRPr lang="en-US" dirty="0"/>
          </a:p>
          <a:p>
            <a:pPr eaLnBrk="0" fontAlgn="base" hangingPunct="0">
              <a:buFont typeface="Arial"/>
              <a:buChar char="•"/>
            </a:pPr>
            <a:r>
              <a:rPr kumimoji="0" lang="en-US" altLang="en-US" sz="2000" b="1" i="1" u="none" strike="noStrike" cap="none" normalizeH="0" baseline="0" dirty="0">
                <a:ln>
                  <a:noFill/>
                </a:ln>
                <a:effectLst/>
                <a:latin typeface="Arial"/>
                <a:cs typeface="Arial"/>
              </a:rPr>
              <a:t>Rainfall</a:t>
            </a:r>
            <a:r>
              <a:rPr kumimoji="0" lang="en-US" altLang="en-US" sz="2000" b="0" i="0" u="none" strike="noStrike" cap="none" normalizeH="0" baseline="0" dirty="0">
                <a:ln>
                  <a:noFill/>
                </a:ln>
                <a:effectLst/>
                <a:latin typeface="Arial"/>
                <a:cs typeface="Arial"/>
              </a:rPr>
              <a:t> </a:t>
            </a:r>
            <a:r>
              <a:rPr lang="en-US" sz="2000" dirty="0"/>
              <a:t>has a small impact, likely due to limited variation in the data or its effect being influenced by factors like temperature and fertilizer.</a:t>
            </a:r>
          </a:p>
          <a:p>
            <a:pPr eaLnBrk="0" fontAlgn="base" hangingPunct="0">
              <a:buFont typeface="Arial"/>
              <a:buChar char="•"/>
            </a:pPr>
            <a:r>
              <a:rPr lang="en-US" sz="2000" b="1" i="1" dirty="0"/>
              <a:t>Pest incidents</a:t>
            </a:r>
            <a:r>
              <a:rPr lang="en-US" sz="2000" dirty="0"/>
              <a:t> contribute least to MSE, suggesting effective control or lower impact and variability compared to temperature and fertilizer.</a:t>
            </a:r>
            <a:endParaRPr lang="en-IN" sz="2000">
              <a:ea typeface="Calibri" panose="020F0502020204030204"/>
              <a:cs typeface="Calibri" panose="020F0502020204030204"/>
            </a:endParaRPr>
          </a:p>
        </p:txBody>
      </p:sp>
    </p:spTree>
    <p:extLst>
      <p:ext uri="{BB962C8B-B14F-4D97-AF65-F5344CB8AC3E}">
        <p14:creationId xmlns:p14="http://schemas.microsoft.com/office/powerpoint/2010/main" val="3933374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1AE0FC-A713-C867-4204-8204FA210B2F}"/>
              </a:ext>
            </a:extLst>
          </p:cNvPr>
          <p:cNvSpPr>
            <a:spLocks noGrp="1"/>
          </p:cNvSpPr>
          <p:nvPr>
            <p:ph idx="1"/>
          </p:nvPr>
        </p:nvSpPr>
        <p:spPr>
          <a:xfrm>
            <a:off x="838200" y="1331355"/>
            <a:ext cx="10515600" cy="5381067"/>
          </a:xfrm>
        </p:spPr>
        <p:txBody>
          <a:bodyPr vert="horz" lIns="91440" tIns="45720" rIns="91440" bIns="45720" rtlCol="0" anchor="t">
            <a:noAutofit/>
          </a:bodyPr>
          <a:lstStyle/>
          <a:p>
            <a:pPr marL="0" indent="0">
              <a:buNone/>
            </a:pPr>
            <a:r>
              <a:rPr lang="en-IN" sz="3200" b="1" i="1" u="sng">
                <a:ea typeface="+mn-lt"/>
                <a:cs typeface="+mn-lt"/>
              </a:rPr>
              <a:t>Model Overview:</a:t>
            </a:r>
          </a:p>
          <a:p>
            <a:pPr marL="0" indent="0">
              <a:buNone/>
            </a:pPr>
            <a:r>
              <a:rPr lang="en-IN" sz="3200">
                <a:ea typeface="+mn-lt"/>
                <a:cs typeface="+mn-lt"/>
              </a:rPr>
              <a:t>Random Forest is an ensemble learning method that builds multiple decision trees and averages their predictions  and reduces overfitting. Each tree is trained on a random subset of data (bootstrap sample) and uses a random subset of features  at each split.</a:t>
            </a:r>
            <a:endParaRPr lang="en-IN" sz="3200">
              <a:ea typeface="Calibri"/>
              <a:cs typeface="Calibri"/>
            </a:endParaRPr>
          </a:p>
          <a:p>
            <a:endParaRPr lang="en-IN" sz="1200">
              <a:ea typeface="+mn-lt"/>
              <a:cs typeface="+mn-lt"/>
            </a:endParaRPr>
          </a:p>
          <a:p>
            <a:endParaRPr lang="en-IN" sz="1200">
              <a:ea typeface="Calibri"/>
              <a:cs typeface="Calibri"/>
            </a:endParaRPr>
          </a:p>
          <a:p>
            <a:endParaRPr lang="en-IN" sz="1200">
              <a:ea typeface="Calibri"/>
              <a:cs typeface="Calibri"/>
            </a:endParaRPr>
          </a:p>
          <a:p>
            <a:endParaRPr lang="en-IN" sz="1200">
              <a:ea typeface="Calibri"/>
              <a:cs typeface="Calibri"/>
            </a:endParaRPr>
          </a:p>
          <a:p>
            <a:endParaRPr lang="en-IN" sz="1600">
              <a:ea typeface="Calibri"/>
              <a:cs typeface="Calibri"/>
            </a:endParaRPr>
          </a:p>
        </p:txBody>
      </p:sp>
      <p:sp>
        <p:nvSpPr>
          <p:cNvPr id="4" name="Rectangle 3">
            <a:extLst>
              <a:ext uri="{FF2B5EF4-FFF2-40B4-BE49-F238E27FC236}">
                <a16:creationId xmlns:a16="http://schemas.microsoft.com/office/drawing/2014/main" id="{5584FF2C-1CC0-D935-A6CE-09954ABC86F6}"/>
              </a:ext>
            </a:extLst>
          </p:cNvPr>
          <p:cNvSpPr/>
          <p:nvPr/>
        </p:nvSpPr>
        <p:spPr>
          <a:xfrm>
            <a:off x="838200" y="705137"/>
            <a:ext cx="7547212" cy="56292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u="sng"/>
              <a:t>Random Forest Regression Model:</a:t>
            </a:r>
            <a:endParaRPr lang="en-IN" sz="4000"/>
          </a:p>
        </p:txBody>
      </p:sp>
    </p:spTree>
    <p:extLst>
      <p:ext uri="{BB962C8B-B14F-4D97-AF65-F5344CB8AC3E}">
        <p14:creationId xmlns:p14="http://schemas.microsoft.com/office/powerpoint/2010/main" val="2059653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AD7E7-D566-C4D7-65D6-F6934EE66836}"/>
              </a:ext>
            </a:extLst>
          </p:cNvPr>
          <p:cNvSpPr>
            <a:spLocks noGrp="1"/>
          </p:cNvSpPr>
          <p:nvPr>
            <p:ph type="title"/>
          </p:nvPr>
        </p:nvSpPr>
        <p:spPr>
          <a:xfrm>
            <a:off x="658228" y="209280"/>
            <a:ext cx="10515600" cy="1325563"/>
          </a:xfrm>
        </p:spPr>
        <p:txBody>
          <a:bodyPr/>
          <a:lstStyle/>
          <a:p>
            <a:r>
              <a:rPr lang="en-US" b="1" u="sng"/>
              <a:t>Model Validation and Forecasting:</a:t>
            </a:r>
            <a:endParaRPr lang="en-IN" b="1" u="sng"/>
          </a:p>
        </p:txBody>
      </p:sp>
      <p:graphicFrame>
        <p:nvGraphicFramePr>
          <p:cNvPr id="4" name="Content Placeholder 3">
            <a:extLst>
              <a:ext uri="{FF2B5EF4-FFF2-40B4-BE49-F238E27FC236}">
                <a16:creationId xmlns:a16="http://schemas.microsoft.com/office/drawing/2014/main" id="{3A0E69D0-F28F-6A76-E660-8B48E1937C51}"/>
              </a:ext>
            </a:extLst>
          </p:cNvPr>
          <p:cNvGraphicFramePr>
            <a:graphicFrameLocks noGrp="1"/>
          </p:cNvGraphicFramePr>
          <p:nvPr>
            <p:ph idx="1"/>
            <p:extLst>
              <p:ext uri="{D42A27DB-BD31-4B8C-83A1-F6EECF244321}">
                <p14:modId xmlns:p14="http://schemas.microsoft.com/office/powerpoint/2010/main" val="174181820"/>
              </p:ext>
            </p:extLst>
          </p:nvPr>
        </p:nvGraphicFramePr>
        <p:xfrm>
          <a:off x="757825" y="1903430"/>
          <a:ext cx="10585663" cy="1789938"/>
        </p:xfrm>
        <a:graphic>
          <a:graphicData uri="http://schemas.openxmlformats.org/drawingml/2006/table">
            <a:tbl>
              <a:tblPr firstRow="1" bandRow="1">
                <a:tableStyleId>{5C22544A-7EE6-4342-B048-85BDC9FD1C3A}</a:tableStyleId>
              </a:tblPr>
              <a:tblGrid>
                <a:gridCol w="1933013">
                  <a:extLst>
                    <a:ext uri="{9D8B030D-6E8A-4147-A177-3AD203B41FA5}">
                      <a16:colId xmlns:a16="http://schemas.microsoft.com/office/drawing/2014/main" val="2411680020"/>
                    </a:ext>
                  </a:extLst>
                </a:gridCol>
                <a:gridCol w="1750919">
                  <a:extLst>
                    <a:ext uri="{9D8B030D-6E8A-4147-A177-3AD203B41FA5}">
                      <a16:colId xmlns:a16="http://schemas.microsoft.com/office/drawing/2014/main" val="764124603"/>
                    </a:ext>
                  </a:extLst>
                </a:gridCol>
                <a:gridCol w="6901731">
                  <a:extLst>
                    <a:ext uri="{9D8B030D-6E8A-4147-A177-3AD203B41FA5}">
                      <a16:colId xmlns:a16="http://schemas.microsoft.com/office/drawing/2014/main" val="2907866343"/>
                    </a:ext>
                  </a:extLst>
                </a:gridCol>
              </a:tblGrid>
              <a:tr h="596646">
                <a:tc>
                  <a:txBody>
                    <a:bodyPr/>
                    <a:lstStyle/>
                    <a:p>
                      <a:r>
                        <a:rPr lang="en-US" sz="2400">
                          <a:solidFill>
                            <a:schemeClr val="bg1"/>
                          </a:solidFill>
                        </a:rPr>
                        <a:t>METRIC</a:t>
                      </a:r>
                    </a:p>
                  </a:txBody>
                  <a:tcPr>
                    <a:solidFill>
                      <a:schemeClr val="accent6"/>
                    </a:solidFill>
                  </a:tcPr>
                </a:tc>
                <a:tc>
                  <a:txBody>
                    <a:bodyPr/>
                    <a:lstStyle/>
                    <a:p>
                      <a:r>
                        <a:rPr lang="en-US" sz="2400">
                          <a:solidFill>
                            <a:schemeClr val="bg1"/>
                          </a:solidFill>
                        </a:rPr>
                        <a:t>VALUE</a:t>
                      </a:r>
                    </a:p>
                  </a:txBody>
                  <a:tcPr>
                    <a:solidFill>
                      <a:schemeClr val="accent6"/>
                    </a:solidFill>
                  </a:tcPr>
                </a:tc>
                <a:tc>
                  <a:txBody>
                    <a:bodyPr/>
                    <a:lstStyle/>
                    <a:p>
                      <a:r>
                        <a:rPr lang="en-US" sz="2400">
                          <a:solidFill>
                            <a:schemeClr val="bg1"/>
                          </a:solidFill>
                        </a:rPr>
                        <a:t>INTERPRETATION</a:t>
                      </a:r>
                    </a:p>
                  </a:txBody>
                  <a:tcPr>
                    <a:solidFill>
                      <a:schemeClr val="accent6"/>
                    </a:solidFill>
                  </a:tcPr>
                </a:tc>
                <a:extLst>
                  <a:ext uri="{0D108BD9-81ED-4DB2-BD59-A6C34878D82A}">
                    <a16:rowId xmlns:a16="http://schemas.microsoft.com/office/drawing/2014/main" val="2050198275"/>
                  </a:ext>
                </a:extLst>
              </a:tr>
              <a:tr h="596646">
                <a:tc>
                  <a:txBody>
                    <a:bodyPr/>
                    <a:lstStyle/>
                    <a:p>
                      <a:r>
                        <a:rPr lang="en-US" sz="2400"/>
                        <a:t>RMSE</a:t>
                      </a:r>
                    </a:p>
                  </a:txBody>
                  <a:tcPr>
                    <a:solidFill>
                      <a:schemeClr val="accent6">
                        <a:lumMod val="20000"/>
                        <a:lumOff val="80000"/>
                      </a:schemeClr>
                    </a:solidFill>
                  </a:tcPr>
                </a:tc>
                <a:tc>
                  <a:txBody>
                    <a:bodyPr/>
                    <a:lstStyle/>
                    <a:p>
                      <a:pPr lvl="0">
                        <a:buNone/>
                      </a:pPr>
                      <a:r>
                        <a:rPr lang="en-US" sz="2400" b="0" i="0" u="none" strike="noStrike" noProof="0">
                          <a:latin typeface="Calibri"/>
                        </a:rPr>
                        <a:t>1.42 </a:t>
                      </a:r>
                      <a:endParaRPr lang="en-US" sz="2400"/>
                    </a:p>
                  </a:txBody>
                  <a:tcPr>
                    <a:solidFill>
                      <a:schemeClr val="accent6">
                        <a:lumMod val="20000"/>
                        <a:lumOff val="80000"/>
                      </a:schemeClr>
                    </a:solidFill>
                  </a:tcPr>
                </a:tc>
                <a:tc>
                  <a:txBody>
                    <a:bodyPr/>
                    <a:lstStyle/>
                    <a:p>
                      <a:pPr lvl="0">
                        <a:buNone/>
                      </a:pPr>
                      <a:r>
                        <a:rPr lang="en-US" sz="2400" b="0" i="0" u="none" strike="noStrike" noProof="0">
                          <a:latin typeface="Calibri"/>
                        </a:rPr>
                        <a:t>Root Mean Squared Error</a:t>
                      </a:r>
                      <a:endParaRPr lang="en-US" sz="2400"/>
                    </a:p>
                  </a:txBody>
                  <a:tcPr>
                    <a:solidFill>
                      <a:schemeClr val="accent6">
                        <a:lumMod val="20000"/>
                        <a:lumOff val="80000"/>
                      </a:schemeClr>
                    </a:solidFill>
                  </a:tcPr>
                </a:tc>
                <a:extLst>
                  <a:ext uri="{0D108BD9-81ED-4DB2-BD59-A6C34878D82A}">
                    <a16:rowId xmlns:a16="http://schemas.microsoft.com/office/drawing/2014/main" val="1056405233"/>
                  </a:ext>
                </a:extLst>
              </a:tr>
              <a:tr h="596646">
                <a:tc>
                  <a:txBody>
                    <a:bodyPr/>
                    <a:lstStyle/>
                    <a:p>
                      <a:r>
                        <a:rPr lang="en-US" sz="2400"/>
                        <a:t>R^2</a:t>
                      </a:r>
                    </a:p>
                  </a:txBody>
                  <a:tcPr>
                    <a:solidFill>
                      <a:schemeClr val="bg1">
                        <a:lumMod val="95000"/>
                      </a:schemeClr>
                    </a:solidFill>
                  </a:tcPr>
                </a:tc>
                <a:tc>
                  <a:txBody>
                    <a:bodyPr/>
                    <a:lstStyle/>
                    <a:p>
                      <a:pPr lvl="0">
                        <a:buNone/>
                      </a:pPr>
                      <a:r>
                        <a:rPr lang="en-US" sz="2400" b="0" i="0" u="none" strike="noStrike" noProof="0">
                          <a:latin typeface="Calibri"/>
                        </a:rPr>
                        <a:t>81.93%</a:t>
                      </a:r>
                      <a:endParaRPr lang="en-US" sz="2400"/>
                    </a:p>
                  </a:txBody>
                  <a:tcPr>
                    <a:solidFill>
                      <a:schemeClr val="bg1">
                        <a:lumMod val="95000"/>
                      </a:schemeClr>
                    </a:solidFill>
                  </a:tcPr>
                </a:tc>
                <a:tc>
                  <a:txBody>
                    <a:bodyPr/>
                    <a:lstStyle/>
                    <a:p>
                      <a:pPr lvl="0">
                        <a:buNone/>
                      </a:pPr>
                      <a:r>
                        <a:rPr lang="en-US" sz="2400" b="0" i="0" u="none" strike="noStrike" noProof="0">
                          <a:latin typeface="Calibri"/>
                        </a:rPr>
                        <a:t>Model explains 81.93% of variance</a:t>
                      </a:r>
                      <a:endParaRPr lang="en-US" sz="2400"/>
                    </a:p>
                  </a:txBody>
                  <a:tcPr>
                    <a:solidFill>
                      <a:schemeClr val="bg1">
                        <a:lumMod val="95000"/>
                      </a:schemeClr>
                    </a:solidFill>
                  </a:tcPr>
                </a:tc>
                <a:extLst>
                  <a:ext uri="{0D108BD9-81ED-4DB2-BD59-A6C34878D82A}">
                    <a16:rowId xmlns:a16="http://schemas.microsoft.com/office/drawing/2014/main" val="2701477981"/>
                  </a:ext>
                </a:extLst>
              </a:tr>
            </a:tbl>
          </a:graphicData>
        </a:graphic>
      </p:graphicFrame>
      <p:graphicFrame>
        <p:nvGraphicFramePr>
          <p:cNvPr id="11" name="Content Placeholder 3">
            <a:extLst>
              <a:ext uri="{FF2B5EF4-FFF2-40B4-BE49-F238E27FC236}">
                <a16:creationId xmlns:a16="http://schemas.microsoft.com/office/drawing/2014/main" id="{E7C8BB61-FDB5-3943-E873-D7973B99AFD0}"/>
              </a:ext>
            </a:extLst>
          </p:cNvPr>
          <p:cNvGraphicFramePr>
            <a:graphicFrameLocks/>
          </p:cNvGraphicFramePr>
          <p:nvPr>
            <p:extLst>
              <p:ext uri="{D42A27DB-BD31-4B8C-83A1-F6EECF244321}">
                <p14:modId xmlns:p14="http://schemas.microsoft.com/office/powerpoint/2010/main" val="856279369"/>
              </p:ext>
            </p:extLst>
          </p:nvPr>
        </p:nvGraphicFramePr>
        <p:xfrm>
          <a:off x="757824" y="4574299"/>
          <a:ext cx="10585663" cy="1789938"/>
        </p:xfrm>
        <a:graphic>
          <a:graphicData uri="http://schemas.openxmlformats.org/drawingml/2006/table">
            <a:tbl>
              <a:tblPr firstRow="1" bandRow="1">
                <a:tableStyleId>{5C22544A-7EE6-4342-B048-85BDC9FD1C3A}</a:tableStyleId>
              </a:tblPr>
              <a:tblGrid>
                <a:gridCol w="1933013">
                  <a:extLst>
                    <a:ext uri="{9D8B030D-6E8A-4147-A177-3AD203B41FA5}">
                      <a16:colId xmlns:a16="http://schemas.microsoft.com/office/drawing/2014/main" val="2411680020"/>
                    </a:ext>
                  </a:extLst>
                </a:gridCol>
                <a:gridCol w="1750919">
                  <a:extLst>
                    <a:ext uri="{9D8B030D-6E8A-4147-A177-3AD203B41FA5}">
                      <a16:colId xmlns:a16="http://schemas.microsoft.com/office/drawing/2014/main" val="764124603"/>
                    </a:ext>
                  </a:extLst>
                </a:gridCol>
                <a:gridCol w="6901731">
                  <a:extLst>
                    <a:ext uri="{9D8B030D-6E8A-4147-A177-3AD203B41FA5}">
                      <a16:colId xmlns:a16="http://schemas.microsoft.com/office/drawing/2014/main" val="2907866343"/>
                    </a:ext>
                  </a:extLst>
                </a:gridCol>
              </a:tblGrid>
              <a:tr h="596646">
                <a:tc>
                  <a:txBody>
                    <a:bodyPr/>
                    <a:lstStyle/>
                    <a:p>
                      <a:r>
                        <a:rPr lang="en-US" sz="2400">
                          <a:solidFill>
                            <a:schemeClr val="bg1"/>
                          </a:solidFill>
                        </a:rPr>
                        <a:t>METRIC</a:t>
                      </a:r>
                    </a:p>
                  </a:txBody>
                  <a:tcPr>
                    <a:solidFill>
                      <a:schemeClr val="accent6"/>
                    </a:solidFill>
                  </a:tcPr>
                </a:tc>
                <a:tc>
                  <a:txBody>
                    <a:bodyPr/>
                    <a:lstStyle/>
                    <a:p>
                      <a:r>
                        <a:rPr lang="en-US" sz="2400">
                          <a:solidFill>
                            <a:schemeClr val="bg1"/>
                          </a:solidFill>
                        </a:rPr>
                        <a:t>VALUE</a:t>
                      </a:r>
                    </a:p>
                  </a:txBody>
                  <a:tcPr>
                    <a:solidFill>
                      <a:schemeClr val="accent6"/>
                    </a:solidFill>
                  </a:tcPr>
                </a:tc>
                <a:tc>
                  <a:txBody>
                    <a:bodyPr/>
                    <a:lstStyle/>
                    <a:p>
                      <a:r>
                        <a:rPr lang="en-US" sz="2400">
                          <a:solidFill>
                            <a:schemeClr val="bg1"/>
                          </a:solidFill>
                        </a:rPr>
                        <a:t>INTERPRETATION</a:t>
                      </a:r>
                    </a:p>
                  </a:txBody>
                  <a:tcPr>
                    <a:solidFill>
                      <a:schemeClr val="accent6"/>
                    </a:solidFill>
                  </a:tcPr>
                </a:tc>
                <a:extLst>
                  <a:ext uri="{0D108BD9-81ED-4DB2-BD59-A6C34878D82A}">
                    <a16:rowId xmlns:a16="http://schemas.microsoft.com/office/drawing/2014/main" val="2050198275"/>
                  </a:ext>
                </a:extLst>
              </a:tr>
              <a:tr h="596646">
                <a:tc>
                  <a:txBody>
                    <a:bodyPr/>
                    <a:lstStyle/>
                    <a:p>
                      <a:r>
                        <a:rPr lang="en-US" sz="2400"/>
                        <a:t>RMSE</a:t>
                      </a:r>
                    </a:p>
                  </a:txBody>
                  <a:tcPr>
                    <a:solidFill>
                      <a:schemeClr val="accent6">
                        <a:lumMod val="20000"/>
                        <a:lumOff val="80000"/>
                      </a:schemeClr>
                    </a:solidFill>
                  </a:tcPr>
                </a:tc>
                <a:tc>
                  <a:txBody>
                    <a:bodyPr/>
                    <a:lstStyle/>
                    <a:p>
                      <a:pPr lvl="0">
                        <a:buNone/>
                      </a:pPr>
                      <a:r>
                        <a:rPr lang="en-US" sz="2400" b="0" i="0" u="none" strike="noStrike" noProof="0">
                          <a:latin typeface="Calibri"/>
                        </a:rPr>
                        <a:t>1.20</a:t>
                      </a:r>
                      <a:endParaRPr lang="en-US" sz="2400"/>
                    </a:p>
                  </a:txBody>
                  <a:tcPr>
                    <a:solidFill>
                      <a:schemeClr val="accent6">
                        <a:lumMod val="20000"/>
                        <a:lumOff val="80000"/>
                      </a:schemeClr>
                    </a:solidFill>
                  </a:tcPr>
                </a:tc>
                <a:tc>
                  <a:txBody>
                    <a:bodyPr/>
                    <a:lstStyle/>
                    <a:p>
                      <a:pPr lvl="0">
                        <a:buNone/>
                      </a:pPr>
                      <a:r>
                        <a:rPr lang="en-US" sz="2400" b="0" i="0" u="none" strike="noStrike" noProof="0">
                          <a:latin typeface="Calibri"/>
                        </a:rPr>
                        <a:t>Root Mean Squared Error</a:t>
                      </a:r>
                      <a:endParaRPr lang="en-US" sz="2400"/>
                    </a:p>
                  </a:txBody>
                  <a:tcPr>
                    <a:solidFill>
                      <a:schemeClr val="accent6">
                        <a:lumMod val="20000"/>
                        <a:lumOff val="80000"/>
                      </a:schemeClr>
                    </a:solidFill>
                  </a:tcPr>
                </a:tc>
                <a:extLst>
                  <a:ext uri="{0D108BD9-81ED-4DB2-BD59-A6C34878D82A}">
                    <a16:rowId xmlns:a16="http://schemas.microsoft.com/office/drawing/2014/main" val="1056405233"/>
                  </a:ext>
                </a:extLst>
              </a:tr>
              <a:tr h="596646">
                <a:tc>
                  <a:txBody>
                    <a:bodyPr/>
                    <a:lstStyle/>
                    <a:p>
                      <a:r>
                        <a:rPr lang="en-US" sz="2400"/>
                        <a:t>R^2</a:t>
                      </a:r>
                    </a:p>
                  </a:txBody>
                  <a:tcPr>
                    <a:solidFill>
                      <a:schemeClr val="bg1">
                        <a:lumMod val="95000"/>
                      </a:schemeClr>
                    </a:solidFill>
                  </a:tcPr>
                </a:tc>
                <a:tc>
                  <a:txBody>
                    <a:bodyPr/>
                    <a:lstStyle/>
                    <a:p>
                      <a:pPr lvl="0">
                        <a:buNone/>
                      </a:pPr>
                      <a:r>
                        <a:rPr lang="en-US" sz="2400" b="0" i="0" u="none" strike="noStrike" noProof="0">
                          <a:latin typeface="Calibri"/>
                        </a:rPr>
                        <a:t>66.02%</a:t>
                      </a:r>
                      <a:endParaRPr lang="en-US" sz="2400"/>
                    </a:p>
                  </a:txBody>
                  <a:tcPr>
                    <a:solidFill>
                      <a:schemeClr val="bg1">
                        <a:lumMod val="95000"/>
                      </a:schemeClr>
                    </a:solidFill>
                  </a:tcPr>
                </a:tc>
                <a:tc>
                  <a:txBody>
                    <a:bodyPr/>
                    <a:lstStyle/>
                    <a:p>
                      <a:pPr lvl="0">
                        <a:buNone/>
                      </a:pPr>
                      <a:r>
                        <a:rPr lang="en-US" sz="2400" b="0" i="0" u="none" strike="noStrike" noProof="0">
                          <a:latin typeface="Calibri"/>
                        </a:rPr>
                        <a:t>Model explains 66.02% of variance</a:t>
                      </a:r>
                      <a:endParaRPr lang="en-US" sz="2400"/>
                    </a:p>
                  </a:txBody>
                  <a:tcPr>
                    <a:solidFill>
                      <a:schemeClr val="bg1">
                        <a:lumMod val="95000"/>
                      </a:schemeClr>
                    </a:solidFill>
                  </a:tcPr>
                </a:tc>
                <a:extLst>
                  <a:ext uri="{0D108BD9-81ED-4DB2-BD59-A6C34878D82A}">
                    <a16:rowId xmlns:a16="http://schemas.microsoft.com/office/drawing/2014/main" val="2701477981"/>
                  </a:ext>
                </a:extLst>
              </a:tr>
            </a:tbl>
          </a:graphicData>
        </a:graphic>
      </p:graphicFrame>
      <p:sp>
        <p:nvSpPr>
          <p:cNvPr id="12" name="TextBox 11">
            <a:extLst>
              <a:ext uri="{FF2B5EF4-FFF2-40B4-BE49-F238E27FC236}">
                <a16:creationId xmlns:a16="http://schemas.microsoft.com/office/drawing/2014/main" id="{E84AAD3D-E738-F1CC-AC86-B2C02F95DED7}"/>
              </a:ext>
            </a:extLst>
          </p:cNvPr>
          <p:cNvSpPr txBox="1"/>
          <p:nvPr/>
        </p:nvSpPr>
        <p:spPr>
          <a:xfrm>
            <a:off x="658228" y="1320152"/>
            <a:ext cx="1061269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u="sng">
                <a:ea typeface="Calibri"/>
                <a:cs typeface="Calibri"/>
              </a:rPr>
              <a:t>Evaluation On Training Dataset:</a:t>
            </a:r>
            <a:endParaRPr lang="en-US" sz="2800" i="1" u="sng"/>
          </a:p>
        </p:txBody>
      </p:sp>
      <p:sp>
        <p:nvSpPr>
          <p:cNvPr id="13" name="TextBox 12">
            <a:extLst>
              <a:ext uri="{FF2B5EF4-FFF2-40B4-BE49-F238E27FC236}">
                <a16:creationId xmlns:a16="http://schemas.microsoft.com/office/drawing/2014/main" id="{48165B41-6780-3DBC-A97B-C12905738249}"/>
              </a:ext>
            </a:extLst>
          </p:cNvPr>
          <p:cNvSpPr txBox="1"/>
          <p:nvPr/>
        </p:nvSpPr>
        <p:spPr>
          <a:xfrm>
            <a:off x="658228" y="3906110"/>
            <a:ext cx="744046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u="sng"/>
              <a:t>Evaluation On Test Dataset:</a:t>
            </a:r>
            <a:endParaRPr lang="en-US" i="1" u="sng"/>
          </a:p>
        </p:txBody>
      </p:sp>
    </p:spTree>
    <p:extLst>
      <p:ext uri="{BB962C8B-B14F-4D97-AF65-F5344CB8AC3E}">
        <p14:creationId xmlns:p14="http://schemas.microsoft.com/office/powerpoint/2010/main" val="519910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EEA2-7921-AA7D-F6C4-443E14327050}"/>
              </a:ext>
            </a:extLst>
          </p:cNvPr>
          <p:cNvSpPr>
            <a:spLocks noGrp="1"/>
          </p:cNvSpPr>
          <p:nvPr>
            <p:ph type="title"/>
          </p:nvPr>
        </p:nvSpPr>
        <p:spPr/>
        <p:txBody>
          <a:bodyPr>
            <a:normAutofit/>
          </a:bodyPr>
          <a:lstStyle/>
          <a:p>
            <a:r>
              <a:rPr lang="en-US" sz="3600" b="1" u="sng">
                <a:ea typeface="Calibri Light"/>
                <a:cs typeface="Calibri Light"/>
              </a:rPr>
              <a:t>Variable Importance Plot:</a:t>
            </a:r>
            <a:endParaRPr lang="en-US">
              <a:ea typeface="Calibri Light" panose="020F0302020204030204"/>
              <a:cs typeface="Calibri Light" panose="020F0302020204030204"/>
            </a:endParaRPr>
          </a:p>
        </p:txBody>
      </p:sp>
      <p:pic>
        <p:nvPicPr>
          <p:cNvPr id="4" name="Content Placeholder 3">
            <a:extLst>
              <a:ext uri="{FF2B5EF4-FFF2-40B4-BE49-F238E27FC236}">
                <a16:creationId xmlns:a16="http://schemas.microsoft.com/office/drawing/2014/main" id="{714950A8-61FE-0891-F8C6-AD5169394F4B}"/>
              </a:ext>
            </a:extLst>
          </p:cNvPr>
          <p:cNvPicPr>
            <a:picLocks noGrp="1" noChangeAspect="1"/>
          </p:cNvPicPr>
          <p:nvPr>
            <p:ph idx="1"/>
          </p:nvPr>
        </p:nvPicPr>
        <p:blipFill>
          <a:blip r:embed="rId2"/>
          <a:stretch>
            <a:fillRect/>
          </a:stretch>
        </p:blipFill>
        <p:spPr>
          <a:xfrm>
            <a:off x="842991" y="1501111"/>
            <a:ext cx="6778396" cy="5165122"/>
          </a:xfrm>
        </p:spPr>
      </p:pic>
      <p:sp>
        <p:nvSpPr>
          <p:cNvPr id="7" name="TextBox 6">
            <a:extLst>
              <a:ext uri="{FF2B5EF4-FFF2-40B4-BE49-F238E27FC236}">
                <a16:creationId xmlns:a16="http://schemas.microsoft.com/office/drawing/2014/main" id="{BDFDC3FE-3A2F-CFE2-DFC6-FD9AC603D78F}"/>
              </a:ext>
            </a:extLst>
          </p:cNvPr>
          <p:cNvSpPr txBox="1"/>
          <p:nvPr/>
        </p:nvSpPr>
        <p:spPr>
          <a:xfrm>
            <a:off x="8142720" y="1501688"/>
            <a:ext cx="3920837" cy="51639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AB68DE3F-EE42-926B-8B89-8C2BA8D74951}"/>
              </a:ext>
            </a:extLst>
          </p:cNvPr>
          <p:cNvSpPr txBox="1"/>
          <p:nvPr/>
        </p:nvSpPr>
        <p:spPr>
          <a:xfrm>
            <a:off x="7963304" y="1462929"/>
            <a:ext cx="412656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ea typeface="Calibri" panose="020F0502020204030204"/>
                <a:cs typeface="Calibri" panose="020F0502020204030204"/>
              </a:rPr>
              <a:t>%</a:t>
            </a:r>
            <a:r>
              <a:rPr lang="en-US" b="1" err="1">
                <a:ea typeface="Calibri" panose="020F0502020204030204"/>
                <a:cs typeface="Calibri" panose="020F0502020204030204"/>
              </a:rPr>
              <a:t>IncMSE</a:t>
            </a:r>
            <a:r>
              <a:rPr lang="en-US" b="1">
                <a:ea typeface="Calibri" panose="020F0502020204030204"/>
                <a:cs typeface="Calibri" panose="020F0502020204030204"/>
              </a:rPr>
              <a:t>(Left Plot)</a:t>
            </a:r>
          </a:p>
          <a:p>
            <a:r>
              <a:rPr lang="en-US"/>
              <a:t>Higher increase in MSE from permuting/randomizing  a variable indicates its importance—greater drop in model performance means the variable is more crucial.</a:t>
            </a:r>
            <a:endParaRPr lang="en-US">
              <a:ea typeface="Calibri" panose="020F0502020204030204"/>
              <a:cs typeface="Calibri" panose="020F0502020204030204"/>
            </a:endParaRPr>
          </a:p>
          <a:p>
            <a:pPr marL="285750" indent="-285750">
              <a:buFont typeface="Arial"/>
              <a:buChar char="•"/>
            </a:pPr>
            <a:r>
              <a:rPr lang="en-US" b="1" err="1">
                <a:ea typeface="Calibri" panose="020F0502020204030204"/>
                <a:cs typeface="Calibri" panose="020F0502020204030204"/>
              </a:rPr>
              <a:t>IncNodePurity</a:t>
            </a:r>
            <a:r>
              <a:rPr lang="en-US" b="1">
                <a:ea typeface="Calibri" panose="020F0502020204030204"/>
                <a:cs typeface="Calibri" panose="020F0502020204030204"/>
              </a:rPr>
              <a:t>(Right Plot)</a:t>
            </a:r>
          </a:p>
          <a:p>
            <a:r>
              <a:rPr lang="en-US"/>
              <a:t>It measures the total reduction in variance (node impurity) from splits on a variable across all decision trees.</a:t>
            </a:r>
            <a:endParaRPr lang="en-US">
              <a:ea typeface="Calibri" panose="020F0502020204030204"/>
              <a:cs typeface="Calibri" panose="020F0502020204030204"/>
            </a:endParaRPr>
          </a:p>
          <a:p>
            <a:pPr marL="285750" indent="-285750">
              <a:buFont typeface="Arial"/>
              <a:buChar char="•"/>
            </a:pPr>
            <a:r>
              <a:rPr lang="en-US" b="1">
                <a:ea typeface="Calibri" panose="020F0502020204030204"/>
                <a:cs typeface="Calibri" panose="020F0502020204030204"/>
              </a:rPr>
              <a:t>From the Graph</a:t>
            </a:r>
          </a:p>
          <a:p>
            <a:r>
              <a:rPr lang="en-US"/>
              <a:t>In both cases, </a:t>
            </a:r>
            <a:r>
              <a:rPr lang="en-US" i="1" err="1"/>
              <a:t>Avg_Temp_C</a:t>
            </a:r>
            <a:r>
              <a:rPr lang="en-US"/>
              <a:t> is the most important feature, </a:t>
            </a:r>
            <a:r>
              <a:rPr lang="en-US" i="1" err="1"/>
              <a:t>Technology_Index</a:t>
            </a:r>
            <a:r>
              <a:rPr lang="en-US"/>
              <a:t> has the least impact on model error, while </a:t>
            </a:r>
            <a:r>
              <a:rPr lang="en-US" i="1" err="1"/>
              <a:t>Pest_Incidents</a:t>
            </a:r>
            <a:r>
              <a:rPr lang="en-US"/>
              <a:t> and </a:t>
            </a:r>
            <a:r>
              <a:rPr lang="en-US" i="1" err="1"/>
              <a:t>Rainfall_mm</a:t>
            </a:r>
            <a:r>
              <a:rPr lang="en-US"/>
              <a:t> contribute meaningfully.</a:t>
            </a:r>
            <a:endParaRPr lang="en-US">
              <a:ea typeface="Calibri" panose="020F0502020204030204"/>
              <a:cs typeface="Calibri" panose="020F0502020204030204"/>
            </a:endParaRPr>
          </a:p>
        </p:txBody>
      </p:sp>
    </p:spTree>
    <p:extLst>
      <p:ext uri="{BB962C8B-B14F-4D97-AF65-F5344CB8AC3E}">
        <p14:creationId xmlns:p14="http://schemas.microsoft.com/office/powerpoint/2010/main" val="998302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AB957213-AF94-C3A0-7966-60A1FCA71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49781-DA89-0C0D-2D1B-53EF157D05B1}"/>
              </a:ext>
            </a:extLst>
          </p:cNvPr>
          <p:cNvSpPr>
            <a:spLocks noGrp="1"/>
          </p:cNvSpPr>
          <p:nvPr>
            <p:ph type="title"/>
          </p:nvPr>
        </p:nvSpPr>
        <p:spPr/>
        <p:txBody>
          <a:bodyPr/>
          <a:lstStyle/>
          <a:p>
            <a:r>
              <a:rPr lang="en-US" b="1" u="sng"/>
              <a:t>Model Validation and Forecasting:</a:t>
            </a:r>
            <a:endParaRPr lang="en-IN" b="1" u="sng"/>
          </a:p>
        </p:txBody>
      </p:sp>
      <p:graphicFrame>
        <p:nvGraphicFramePr>
          <p:cNvPr id="9" name="Content Placeholder 8">
            <a:extLst>
              <a:ext uri="{FF2B5EF4-FFF2-40B4-BE49-F238E27FC236}">
                <a16:creationId xmlns:a16="http://schemas.microsoft.com/office/drawing/2014/main" id="{C46B05A2-5EA6-3DEE-7564-F1CD798F1AD9}"/>
              </a:ext>
            </a:extLst>
          </p:cNvPr>
          <p:cNvGraphicFramePr>
            <a:graphicFrameLocks noGrp="1"/>
          </p:cNvGraphicFramePr>
          <p:nvPr>
            <p:ph idx="1"/>
            <p:extLst>
              <p:ext uri="{D42A27DB-BD31-4B8C-83A1-F6EECF244321}">
                <p14:modId xmlns:p14="http://schemas.microsoft.com/office/powerpoint/2010/main" val="2485906200"/>
              </p:ext>
            </p:extLst>
          </p:nvPr>
        </p:nvGraphicFramePr>
        <p:xfrm>
          <a:off x="838200" y="1825625"/>
          <a:ext cx="10515597" cy="4399710"/>
        </p:xfrm>
        <a:graphic>
          <a:graphicData uri="http://schemas.openxmlformats.org/drawingml/2006/table">
            <a:tbl>
              <a:tblPr firstRow="1" bandRow="1">
                <a:tableStyleId>{5C22544A-7EE6-4342-B048-85BDC9FD1C3A}</a:tableStyleId>
              </a:tblPr>
              <a:tblGrid>
                <a:gridCol w="5301447">
                  <a:extLst>
                    <a:ext uri="{9D8B030D-6E8A-4147-A177-3AD203B41FA5}">
                      <a16:colId xmlns:a16="http://schemas.microsoft.com/office/drawing/2014/main" val="3824305949"/>
                    </a:ext>
                  </a:extLst>
                </a:gridCol>
                <a:gridCol w="5214150">
                  <a:extLst>
                    <a:ext uri="{9D8B030D-6E8A-4147-A177-3AD203B41FA5}">
                      <a16:colId xmlns:a16="http://schemas.microsoft.com/office/drawing/2014/main" val="216034756"/>
                    </a:ext>
                  </a:extLst>
                </a:gridCol>
              </a:tblGrid>
              <a:tr h="628530">
                <a:tc>
                  <a:txBody>
                    <a:bodyPr/>
                    <a:lstStyle/>
                    <a:p>
                      <a:r>
                        <a:rPr lang="en-US"/>
                        <a:t>Variable</a:t>
                      </a:r>
                    </a:p>
                  </a:txBody>
                  <a:tcPr>
                    <a:solidFill>
                      <a:schemeClr val="accent6"/>
                    </a:solidFill>
                  </a:tcPr>
                </a:tc>
                <a:tc>
                  <a:txBody>
                    <a:bodyPr/>
                    <a:lstStyle/>
                    <a:p>
                      <a:r>
                        <a:rPr lang="en-US"/>
                        <a:t>Forecasted Value</a:t>
                      </a:r>
                    </a:p>
                  </a:txBody>
                  <a:tcPr>
                    <a:solidFill>
                      <a:schemeClr val="accent6"/>
                    </a:solidFill>
                  </a:tcPr>
                </a:tc>
                <a:extLst>
                  <a:ext uri="{0D108BD9-81ED-4DB2-BD59-A6C34878D82A}">
                    <a16:rowId xmlns:a16="http://schemas.microsoft.com/office/drawing/2014/main" val="181810737"/>
                  </a:ext>
                </a:extLst>
              </a:tr>
              <a:tr h="628530">
                <a:tc>
                  <a:txBody>
                    <a:bodyPr/>
                    <a:lstStyle/>
                    <a:p>
                      <a:r>
                        <a:rPr lang="en-US"/>
                        <a:t>Rainfall</a:t>
                      </a:r>
                    </a:p>
                  </a:txBody>
                  <a:tcPr>
                    <a:solidFill>
                      <a:schemeClr val="accent6">
                        <a:lumMod val="20000"/>
                        <a:lumOff val="80000"/>
                      </a:schemeClr>
                    </a:solidFill>
                  </a:tcPr>
                </a:tc>
                <a:tc>
                  <a:txBody>
                    <a:bodyPr/>
                    <a:lstStyle/>
                    <a:p>
                      <a:r>
                        <a:rPr lang="en-US"/>
                        <a:t>1236.78mm</a:t>
                      </a:r>
                    </a:p>
                  </a:txBody>
                  <a:tcPr>
                    <a:solidFill>
                      <a:schemeClr val="accent6">
                        <a:lumMod val="20000"/>
                        <a:lumOff val="80000"/>
                      </a:schemeClr>
                    </a:solidFill>
                  </a:tcPr>
                </a:tc>
                <a:extLst>
                  <a:ext uri="{0D108BD9-81ED-4DB2-BD59-A6C34878D82A}">
                    <a16:rowId xmlns:a16="http://schemas.microsoft.com/office/drawing/2014/main" val="7363064"/>
                  </a:ext>
                </a:extLst>
              </a:tr>
              <a:tr h="628530">
                <a:tc>
                  <a:txBody>
                    <a:bodyPr/>
                    <a:lstStyle/>
                    <a:p>
                      <a:r>
                        <a:rPr lang="en-US"/>
                        <a:t>Average Temperature</a:t>
                      </a:r>
                    </a:p>
                  </a:txBody>
                  <a:tcPr>
                    <a:solidFill>
                      <a:schemeClr val="bg1">
                        <a:lumMod val="95000"/>
                      </a:schemeClr>
                    </a:solidFill>
                  </a:tcPr>
                </a:tc>
                <a:tc>
                  <a:txBody>
                    <a:bodyPr/>
                    <a:lstStyle/>
                    <a:p>
                      <a:r>
                        <a:rPr lang="en-US"/>
                        <a:t>25.82</a:t>
                      </a:r>
                      <a:r>
                        <a:rPr lang="en-US">
                          <a:solidFill>
                            <a:schemeClr val="tx1"/>
                          </a:solidFill>
                        </a:rPr>
                        <a:t> </a:t>
                      </a:r>
                      <a:r>
                        <a:rPr lang="en-US" sz="1800" b="0" i="0" u="none" strike="noStrike" noProof="0">
                          <a:solidFill>
                            <a:schemeClr val="tx1"/>
                          </a:solidFill>
                          <a:latin typeface="Calibri"/>
                        </a:rPr>
                        <a:t>°C</a:t>
                      </a:r>
                      <a:endParaRPr lang="en-US" sz="1800">
                        <a:solidFill>
                          <a:schemeClr val="tx1"/>
                        </a:solidFill>
                      </a:endParaRPr>
                    </a:p>
                  </a:txBody>
                  <a:tcPr>
                    <a:solidFill>
                      <a:schemeClr val="bg1">
                        <a:lumMod val="95000"/>
                      </a:schemeClr>
                    </a:solidFill>
                  </a:tcPr>
                </a:tc>
                <a:extLst>
                  <a:ext uri="{0D108BD9-81ED-4DB2-BD59-A6C34878D82A}">
                    <a16:rowId xmlns:a16="http://schemas.microsoft.com/office/drawing/2014/main" val="2186332607"/>
                  </a:ext>
                </a:extLst>
              </a:tr>
              <a:tr h="628530">
                <a:tc>
                  <a:txBody>
                    <a:bodyPr/>
                    <a:lstStyle/>
                    <a:p>
                      <a:r>
                        <a:rPr lang="en-US"/>
                        <a:t>Fertilizer Use</a:t>
                      </a:r>
                    </a:p>
                  </a:txBody>
                  <a:tcPr>
                    <a:solidFill>
                      <a:schemeClr val="accent6">
                        <a:lumMod val="20000"/>
                        <a:lumOff val="80000"/>
                      </a:schemeClr>
                    </a:solidFill>
                  </a:tcPr>
                </a:tc>
                <a:tc>
                  <a:txBody>
                    <a:bodyPr/>
                    <a:lstStyle/>
                    <a:p>
                      <a:r>
                        <a:rPr lang="en-US"/>
                        <a:t>261.0338 kg/ha</a:t>
                      </a:r>
                    </a:p>
                  </a:txBody>
                  <a:tcPr>
                    <a:solidFill>
                      <a:schemeClr val="accent6">
                        <a:lumMod val="20000"/>
                        <a:lumOff val="80000"/>
                      </a:schemeClr>
                    </a:solidFill>
                  </a:tcPr>
                </a:tc>
                <a:extLst>
                  <a:ext uri="{0D108BD9-81ED-4DB2-BD59-A6C34878D82A}">
                    <a16:rowId xmlns:a16="http://schemas.microsoft.com/office/drawing/2014/main" val="927488865"/>
                  </a:ext>
                </a:extLst>
              </a:tr>
              <a:tr h="628530">
                <a:tc>
                  <a:txBody>
                    <a:bodyPr/>
                    <a:lstStyle/>
                    <a:p>
                      <a:r>
                        <a:rPr lang="en-US"/>
                        <a:t>Technology Index</a:t>
                      </a:r>
                    </a:p>
                  </a:txBody>
                  <a:tcPr>
                    <a:solidFill>
                      <a:schemeClr val="bg1">
                        <a:lumMod val="95000"/>
                      </a:schemeClr>
                    </a:solidFill>
                  </a:tcPr>
                </a:tc>
                <a:tc>
                  <a:txBody>
                    <a:bodyPr/>
                    <a:lstStyle/>
                    <a:p>
                      <a:r>
                        <a:rPr lang="en-US"/>
                        <a:t>74.07 units</a:t>
                      </a:r>
                    </a:p>
                  </a:txBody>
                  <a:tcPr>
                    <a:solidFill>
                      <a:schemeClr val="bg1">
                        <a:lumMod val="95000"/>
                      </a:schemeClr>
                    </a:solidFill>
                  </a:tcPr>
                </a:tc>
                <a:extLst>
                  <a:ext uri="{0D108BD9-81ED-4DB2-BD59-A6C34878D82A}">
                    <a16:rowId xmlns:a16="http://schemas.microsoft.com/office/drawing/2014/main" val="2055030940"/>
                  </a:ext>
                </a:extLst>
              </a:tr>
              <a:tr h="628530">
                <a:tc>
                  <a:txBody>
                    <a:bodyPr/>
                    <a:lstStyle/>
                    <a:p>
                      <a:r>
                        <a:rPr lang="en-US"/>
                        <a:t>Pest Incident</a:t>
                      </a:r>
                    </a:p>
                  </a:txBody>
                  <a:tcPr>
                    <a:solidFill>
                      <a:schemeClr val="accent6">
                        <a:lumMod val="20000"/>
                        <a:lumOff val="80000"/>
                      </a:schemeClr>
                    </a:solidFill>
                  </a:tcPr>
                </a:tc>
                <a:tc>
                  <a:txBody>
                    <a:bodyPr/>
                    <a:lstStyle/>
                    <a:p>
                      <a:r>
                        <a:rPr lang="en-US"/>
                        <a:t>3 incidents</a:t>
                      </a:r>
                    </a:p>
                  </a:txBody>
                  <a:tcPr>
                    <a:solidFill>
                      <a:schemeClr val="accent6">
                        <a:lumMod val="20000"/>
                        <a:lumOff val="80000"/>
                      </a:schemeClr>
                    </a:solidFill>
                  </a:tcPr>
                </a:tc>
                <a:extLst>
                  <a:ext uri="{0D108BD9-81ED-4DB2-BD59-A6C34878D82A}">
                    <a16:rowId xmlns:a16="http://schemas.microsoft.com/office/drawing/2014/main" val="1060690037"/>
                  </a:ext>
                </a:extLst>
              </a:tr>
              <a:tr h="628530">
                <a:tc>
                  <a:txBody>
                    <a:bodyPr/>
                    <a:lstStyle/>
                    <a:p>
                      <a:r>
                        <a:rPr lang="en-US"/>
                        <a:t>Predicted Crop Yield</a:t>
                      </a:r>
                    </a:p>
                  </a:txBody>
                  <a:tcPr>
                    <a:solidFill>
                      <a:schemeClr val="bg1">
                        <a:lumMod val="95000"/>
                      </a:schemeClr>
                    </a:solidFill>
                  </a:tcPr>
                </a:tc>
                <a:tc>
                  <a:txBody>
                    <a:bodyPr/>
                    <a:lstStyle/>
                    <a:p>
                      <a:r>
                        <a:rPr lang="en-US"/>
                        <a:t>7.0971 ton/ha</a:t>
                      </a:r>
                    </a:p>
                  </a:txBody>
                  <a:tcPr>
                    <a:solidFill>
                      <a:schemeClr val="bg1">
                        <a:lumMod val="95000"/>
                      </a:schemeClr>
                    </a:solidFill>
                  </a:tcPr>
                </a:tc>
                <a:extLst>
                  <a:ext uri="{0D108BD9-81ED-4DB2-BD59-A6C34878D82A}">
                    <a16:rowId xmlns:a16="http://schemas.microsoft.com/office/drawing/2014/main" val="941264311"/>
                  </a:ext>
                </a:extLst>
              </a:tr>
            </a:tbl>
          </a:graphicData>
        </a:graphic>
      </p:graphicFrame>
    </p:spTree>
    <p:extLst>
      <p:ext uri="{BB962C8B-B14F-4D97-AF65-F5344CB8AC3E}">
        <p14:creationId xmlns:p14="http://schemas.microsoft.com/office/powerpoint/2010/main" val="1781261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D52E385A-DDFA-DB3A-D660-7A9548569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56C6C-43F6-6899-489E-A4BE6E79FFE6}"/>
              </a:ext>
            </a:extLst>
          </p:cNvPr>
          <p:cNvSpPr>
            <a:spLocks noGrp="1"/>
          </p:cNvSpPr>
          <p:nvPr>
            <p:ph type="title"/>
          </p:nvPr>
        </p:nvSpPr>
        <p:spPr/>
        <p:txBody>
          <a:bodyPr/>
          <a:lstStyle/>
          <a:p>
            <a:r>
              <a:rPr lang="en-US" sz="4000" b="1" u="sng"/>
              <a:t>Optimization Problem to maximize Crop Yield (ton/ha) using Random Forest Regression:</a:t>
            </a:r>
            <a:endParaRPr lang="en-IN" sz="4000" b="1" u="sng"/>
          </a:p>
        </p:txBody>
      </p:sp>
      <p:sp>
        <p:nvSpPr>
          <p:cNvPr id="3" name="Content Placeholder 2">
            <a:extLst>
              <a:ext uri="{FF2B5EF4-FFF2-40B4-BE49-F238E27FC236}">
                <a16:creationId xmlns:a16="http://schemas.microsoft.com/office/drawing/2014/main" id="{4F836671-AF5A-D0D2-A893-AEBC74D81F6A}"/>
              </a:ext>
            </a:extLst>
          </p:cNvPr>
          <p:cNvSpPr>
            <a:spLocks noGrp="1"/>
          </p:cNvSpPr>
          <p:nvPr>
            <p:ph idx="1"/>
          </p:nvPr>
        </p:nvSpPr>
        <p:spPr/>
        <p:txBody>
          <a:bodyPr vert="horz" lIns="91440" tIns="45720" rIns="91440" bIns="45720" rtlCol="0" anchor="t">
            <a:normAutofit/>
          </a:bodyPr>
          <a:lstStyle/>
          <a:p>
            <a:pPr marL="0" indent="0">
              <a:buNone/>
            </a:pPr>
            <a:r>
              <a:rPr lang="en-IN">
                <a:ea typeface="Calibri"/>
                <a:cs typeface="Calibri"/>
              </a:rPr>
              <a:t>We Categorise the variables into 2 categories:-  Type 1 and Type 2.</a:t>
            </a:r>
          </a:p>
          <a:p>
            <a:r>
              <a:rPr lang="en-IN" b="1">
                <a:ea typeface="Calibri"/>
                <a:cs typeface="Calibri"/>
              </a:rPr>
              <a:t>Type 1 (Controllable/Human Factors) variables</a:t>
            </a:r>
            <a:r>
              <a:rPr lang="en-IN">
                <a:ea typeface="Calibri"/>
                <a:cs typeface="Calibri"/>
              </a:rPr>
              <a:t>, are those predictor variables which can be  controlled by the farmers ( In our case- Amount of Fertiliser used, Level of Technology used).</a:t>
            </a:r>
          </a:p>
          <a:p>
            <a:r>
              <a:rPr lang="en-IN" b="1">
                <a:ea typeface="Calibri"/>
                <a:cs typeface="Calibri"/>
              </a:rPr>
              <a:t>Type 2 (Uncontrollable/Environment Factors) Variables, </a:t>
            </a:r>
            <a:r>
              <a:rPr lang="en-IN">
                <a:ea typeface="Calibri"/>
                <a:cs typeface="Calibri"/>
              </a:rPr>
              <a:t>are those variables which are independent and cannot be controlled by the farmers (In our case, temperature, rainfall and pest incidents).</a:t>
            </a:r>
          </a:p>
          <a:p>
            <a:pPr marL="0" indent="0">
              <a:buNone/>
            </a:pPr>
            <a:endParaRPr lang="en-IN">
              <a:ea typeface="Calibri"/>
              <a:cs typeface="Calibri"/>
            </a:endParaRPr>
          </a:p>
          <a:p>
            <a:pPr marL="0" indent="0">
              <a:buNone/>
            </a:pPr>
            <a:endParaRPr lang="en-IN">
              <a:ea typeface="Calibri"/>
              <a:cs typeface="Calibri"/>
            </a:endParaRPr>
          </a:p>
          <a:p>
            <a:endParaRPr lang="en-IN">
              <a:ea typeface="Calibri"/>
              <a:cs typeface="Calibri"/>
            </a:endParaRPr>
          </a:p>
          <a:p>
            <a:endParaRPr lang="en-IN">
              <a:ea typeface="Calibri"/>
              <a:cs typeface="Calibri"/>
            </a:endParaRPr>
          </a:p>
        </p:txBody>
      </p:sp>
    </p:spTree>
    <p:extLst>
      <p:ext uri="{BB962C8B-B14F-4D97-AF65-F5344CB8AC3E}">
        <p14:creationId xmlns:p14="http://schemas.microsoft.com/office/powerpoint/2010/main" val="792748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CE2578DE-2BE4-4471-16D4-1CB42C8663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451D44-CFE6-26E6-3775-259D82DA9164}"/>
              </a:ext>
            </a:extLst>
          </p:cNvPr>
          <p:cNvSpPr>
            <a:spLocks noGrp="1"/>
          </p:cNvSpPr>
          <p:nvPr>
            <p:ph idx="1"/>
          </p:nvPr>
        </p:nvSpPr>
        <p:spPr/>
        <p:txBody>
          <a:bodyPr vert="horz" lIns="91440" tIns="45720" rIns="91440" bIns="45720" rtlCol="0" anchor="t">
            <a:normAutofit/>
          </a:bodyPr>
          <a:lstStyle/>
          <a:p>
            <a:endParaRPr lang="en-IN">
              <a:ea typeface="Calibri"/>
              <a:cs typeface="Calibri"/>
            </a:endParaRPr>
          </a:p>
          <a:p>
            <a:pPr marL="0" indent="0">
              <a:buNone/>
            </a:pPr>
            <a:endParaRPr lang="en-IN">
              <a:ea typeface="Calibri"/>
              <a:cs typeface="Calibri"/>
            </a:endParaRPr>
          </a:p>
          <a:p>
            <a:pPr marL="0" indent="0">
              <a:buNone/>
            </a:pPr>
            <a:endParaRPr lang="en-IN">
              <a:ea typeface="Calibri"/>
              <a:cs typeface="Calibri"/>
            </a:endParaRPr>
          </a:p>
          <a:p>
            <a:endParaRPr lang="en-IN">
              <a:ea typeface="Calibri"/>
              <a:cs typeface="Calibri"/>
            </a:endParaRPr>
          </a:p>
          <a:p>
            <a:endParaRPr lang="en-IN">
              <a:ea typeface="Calibri"/>
              <a:cs typeface="Calibri"/>
            </a:endParaRPr>
          </a:p>
        </p:txBody>
      </p:sp>
      <p:sp>
        <p:nvSpPr>
          <p:cNvPr id="6" name="Content Placeholder 2">
            <a:extLst>
              <a:ext uri="{FF2B5EF4-FFF2-40B4-BE49-F238E27FC236}">
                <a16:creationId xmlns:a16="http://schemas.microsoft.com/office/drawing/2014/main" id="{826B4E2F-BD15-E95A-2411-05DEE400869C}"/>
              </a:ext>
            </a:extLst>
          </p:cNvPr>
          <p:cNvSpPr txBox="1">
            <a:spLocks/>
          </p:cNvSpPr>
          <p:nvPr/>
        </p:nvSpPr>
        <p:spPr>
          <a:xfrm>
            <a:off x="838200" y="1120952"/>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i="1" u="sng">
                <a:ea typeface="Calibri"/>
                <a:cs typeface="Calibri"/>
              </a:rPr>
              <a:t> Aim:</a:t>
            </a:r>
          </a:p>
          <a:p>
            <a:pPr marL="0" indent="0">
              <a:buNone/>
            </a:pPr>
            <a:r>
              <a:rPr kumimoji="0" lang="en-US" altLang="en-US" b="0" i="0" u="none" strike="noStrike" cap="none" normalizeH="0" baseline="0">
                <a:ln>
                  <a:noFill/>
                </a:ln>
                <a:solidFill>
                  <a:schemeClr val="tx1"/>
                </a:solidFill>
                <a:effectLst/>
                <a:latin typeface="Arial" panose="020B0604020202020204" pitchFamily="34" charset="0"/>
              </a:rPr>
              <a:t>Our aim is to maximize crop yield by controlling Type 1 variables based on known values of Type 2 variables, which can take any value.</a:t>
            </a:r>
          </a:p>
          <a:p>
            <a:pPr marL="0" indent="0">
              <a:buNone/>
            </a:pPr>
            <a:r>
              <a:rPr kumimoji="0" lang="en-US" altLang="en-US" b="1" i="1" u="sng" strike="noStrike" cap="none" normalizeH="0" baseline="0">
                <a:ln>
                  <a:noFill/>
                </a:ln>
                <a:solidFill>
                  <a:schemeClr val="tx1"/>
                </a:solidFill>
                <a:effectLst/>
                <a:latin typeface="Arial" panose="020B0604020202020204" pitchFamily="34" charset="0"/>
              </a:rPr>
              <a:t>Process:</a:t>
            </a:r>
          </a:p>
          <a:p>
            <a:pPr marL="0" indent="0">
              <a:buNone/>
            </a:pPr>
            <a:r>
              <a:rPr kumimoji="0" lang="en-US" altLang="en-US" sz="2800" b="0" i="0" u="none" strike="noStrike" cap="none" normalizeH="0" baseline="0">
                <a:ln>
                  <a:noFill/>
                </a:ln>
                <a:solidFill>
                  <a:schemeClr val="tx1"/>
                </a:solidFill>
                <a:effectLst/>
                <a:latin typeface="Arial" panose="020B0604020202020204" pitchFamily="34" charset="0"/>
              </a:rPr>
              <a:t>While excessive use of fertilizers and high-tech investments may boost yield, it's unrealistic for resource-limited farmers, so we introduce a new variable: </a:t>
            </a:r>
            <a:r>
              <a:rPr kumimoji="0" lang="en-US" altLang="en-US" sz="2800" b="0" i="1" u="sng" strike="noStrike" cap="none" normalizeH="0" baseline="0">
                <a:ln>
                  <a:noFill/>
                </a:ln>
                <a:solidFill>
                  <a:schemeClr val="tx1"/>
                </a:solidFill>
                <a:effectLst/>
                <a:latin typeface="Arial" panose="020B0604020202020204" pitchFamily="34" charset="0"/>
              </a:rPr>
              <a:t>Expenditure</a:t>
            </a:r>
            <a:r>
              <a:rPr kumimoji="0" lang="en-US" altLang="en-US" sz="2800" b="0" i="0" u="none" strike="noStrike" cap="none" normalizeH="0" baseline="0">
                <a:ln>
                  <a:noFill/>
                </a:ln>
                <a:solidFill>
                  <a:schemeClr val="tx1"/>
                </a:solidFill>
                <a:effectLst/>
                <a:latin typeface="Arial" panose="020B0604020202020204" pitchFamily="34" charset="0"/>
              </a:rPr>
              <a:t>, to reflect this constraint in our optimization.</a:t>
            </a:r>
          </a:p>
          <a:p>
            <a:endParaRPr lang="en-IN">
              <a:ea typeface="Calibri"/>
              <a:cs typeface="Calibri"/>
            </a:endParaRPr>
          </a:p>
        </p:txBody>
      </p:sp>
    </p:spTree>
    <p:extLst>
      <p:ext uri="{BB962C8B-B14F-4D97-AF65-F5344CB8AC3E}">
        <p14:creationId xmlns:p14="http://schemas.microsoft.com/office/powerpoint/2010/main" val="1178378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E8D94387-1D75-8D72-6FB8-02425FA8B5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209062-64A7-2AD8-8A38-003FFE167939}"/>
              </a:ext>
            </a:extLst>
          </p:cNvPr>
          <p:cNvSpPr>
            <a:spLocks noGrp="1"/>
          </p:cNvSpPr>
          <p:nvPr>
            <p:ph idx="1"/>
          </p:nvPr>
        </p:nvSpPr>
        <p:spPr>
          <a:xfrm>
            <a:off x="763137" y="1361601"/>
            <a:ext cx="10515600" cy="4351338"/>
          </a:xfrm>
        </p:spPr>
        <p:txBody>
          <a:bodyPr vert="horz" lIns="91440" tIns="45720" rIns="91440" bIns="45720" rtlCol="0" anchor="t">
            <a:normAutofit/>
          </a:bodyPr>
          <a:lstStyle/>
          <a:p>
            <a:r>
              <a:rPr kumimoji="0" lang="en-US" altLang="en-US" sz="2800" b="0" i="0" u="none" strike="noStrike" cap="none" normalizeH="0" baseline="0">
                <a:ln>
                  <a:noFill/>
                </a:ln>
                <a:solidFill>
                  <a:schemeClr val="tx1"/>
                </a:solidFill>
                <a:effectLst/>
                <a:latin typeface="Arial" panose="020B0604020202020204" pitchFamily="34" charset="0"/>
              </a:rPr>
              <a:t>Expenditure is a special Type 1 variable dependent on original Type 1 variables, defined as:</a:t>
            </a:r>
            <a:endParaRPr lang="en-IN">
              <a:ea typeface="Calibri"/>
              <a:cs typeface="Calibri"/>
            </a:endParaRPr>
          </a:p>
          <a:p>
            <a:pPr marL="0" indent="0">
              <a:buNone/>
            </a:pPr>
            <a:r>
              <a:rPr lang="en-IN">
                <a:ea typeface="Calibri"/>
                <a:cs typeface="Calibri"/>
              </a:rPr>
              <a:t>       </a:t>
            </a:r>
            <a:r>
              <a:rPr lang="en-IN" b="1" u="sng">
                <a:solidFill>
                  <a:srgbClr val="0070C0"/>
                </a:solidFill>
                <a:ea typeface="Calibri"/>
                <a:cs typeface="Calibri"/>
              </a:rPr>
              <a:t>Expenditure = 2 * Fertilizer (Kg/Ha) + 5 * Technology Index.</a:t>
            </a:r>
          </a:p>
          <a:p>
            <a:pPr marL="0" indent="0">
              <a:buNone/>
            </a:pPr>
            <a:r>
              <a:rPr kumimoji="0" lang="en-US" altLang="en-US" sz="2800" b="0" i="0" u="none" strike="noStrike" cap="none" normalizeH="0" baseline="0">
                <a:ln>
                  <a:noFill/>
                </a:ln>
                <a:solidFill>
                  <a:schemeClr val="tx1"/>
                </a:solidFill>
                <a:effectLst/>
                <a:latin typeface="Arial" panose="020B0604020202020204" pitchFamily="34" charset="0"/>
              </a:rPr>
              <a:t>where weights are arbitrary and highlight higher investment in technology than fertilizer.</a:t>
            </a:r>
          </a:p>
          <a:p>
            <a:r>
              <a:rPr lang="en-US"/>
              <a:t>Our optimization problem aims to find optimal Type 1 variable values for maximum crop yield, given known Type 2 values and subject to the constraint that total expenditure stays below a known constant k.</a:t>
            </a:r>
            <a:endParaRPr kumimoji="0" lang="en-US" altLang="en-US" sz="2800" b="0" i="0" u="none" strike="noStrike" cap="none" normalizeH="0" baseline="0">
              <a:ln>
                <a:noFill/>
              </a:ln>
              <a:solidFill>
                <a:schemeClr val="tx1"/>
              </a:solidFill>
              <a:effectLst/>
              <a:latin typeface="Arial" panose="020B0604020202020204" pitchFamily="34" charset="0"/>
            </a:endParaRPr>
          </a:p>
          <a:p>
            <a:pPr marL="0" indent="0">
              <a:buNone/>
            </a:pPr>
            <a:endParaRPr lang="en-IN">
              <a:ea typeface="Calibri"/>
              <a:cs typeface="Calibri"/>
            </a:endParaRPr>
          </a:p>
          <a:p>
            <a:pPr marL="0" indent="0">
              <a:buNone/>
            </a:pPr>
            <a:endParaRPr lang="en-IN">
              <a:ea typeface="Calibri"/>
              <a:cs typeface="Calibri"/>
            </a:endParaRPr>
          </a:p>
          <a:p>
            <a:pPr marL="0" indent="0">
              <a:buNone/>
            </a:pPr>
            <a:endParaRPr lang="en-IN">
              <a:ea typeface="Calibri"/>
              <a:cs typeface="Calibri"/>
            </a:endParaRPr>
          </a:p>
          <a:p>
            <a:endParaRPr lang="en-IN">
              <a:ea typeface="Calibri"/>
              <a:cs typeface="Calibri"/>
            </a:endParaRPr>
          </a:p>
          <a:p>
            <a:endParaRPr lang="en-IN">
              <a:ea typeface="Calibri"/>
              <a:cs typeface="Calibri"/>
            </a:endParaRPr>
          </a:p>
        </p:txBody>
      </p:sp>
    </p:spTree>
    <p:extLst>
      <p:ext uri="{BB962C8B-B14F-4D97-AF65-F5344CB8AC3E}">
        <p14:creationId xmlns:p14="http://schemas.microsoft.com/office/powerpoint/2010/main" val="22058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E86BE265-91A0-AA1F-63CB-4621BCB839A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8C10F81-773D-6727-9001-05563832573C}"/>
              </a:ext>
            </a:extLst>
          </p:cNvPr>
          <p:cNvSpPr>
            <a:spLocks noGrp="1"/>
          </p:cNvSpPr>
          <p:nvPr>
            <p:ph idx="1"/>
          </p:nvPr>
        </p:nvSpPr>
        <p:spPr>
          <a:xfrm>
            <a:off x="838200" y="1068173"/>
            <a:ext cx="10515600" cy="4943665"/>
          </a:xfrm>
        </p:spPr>
        <p:txBody>
          <a:bodyPr vert="horz" lIns="91440" tIns="45720" rIns="91440" bIns="45720" rtlCol="0" anchor="t">
            <a:normAutofit lnSpcReduction="10000"/>
          </a:bodyPr>
          <a:lstStyle/>
          <a:p>
            <a:r>
              <a:rPr lang="en-US"/>
              <a:t>We use Bayesian Optimization with the Random Forest Regression model discussed before, fixing the expenditure limit at 1000 units and using forecasted Type 2 variables—Rainfall, Temperature, and Pest levels—to estimate how varying Fertilizer and Tech Index values impact yield.</a:t>
            </a:r>
          </a:p>
          <a:p>
            <a:r>
              <a:rPr lang="en-US"/>
              <a:t>Bayesian Optimization intelligently selects Fertilizer and Tech Index combinations to test, aiming to maximize yield while ensuring 2×Fertilizer + 5×Tech Index ≤ 1000, thus staying within resource limits.</a:t>
            </a:r>
            <a:endParaRPr lang="en-US">
              <a:ea typeface="Calibri"/>
              <a:cs typeface="Calibri"/>
            </a:endParaRPr>
          </a:p>
          <a:p>
            <a:r>
              <a:rPr lang="en-US"/>
              <a:t>The model acts as a surrogate for the real-world function, using an acquisition function to balance </a:t>
            </a:r>
            <a:r>
              <a:rPr lang="en-US" b="1" i="1" u="sng"/>
              <a:t>exploration</a:t>
            </a:r>
            <a:r>
              <a:rPr lang="en-US"/>
              <a:t> (trying less-tested combinations) and </a:t>
            </a:r>
            <a:r>
              <a:rPr lang="en-US" b="1" i="1" u="sng"/>
              <a:t>exploitation</a:t>
            </a:r>
            <a:r>
              <a:rPr lang="en-US"/>
              <a:t> (focusing on promising areas) when deciding the next best point to evaluate.</a:t>
            </a:r>
            <a:endParaRPr lang="en-IN">
              <a:ea typeface="Calibri"/>
              <a:cs typeface="Calibri"/>
            </a:endParaRPr>
          </a:p>
          <a:p>
            <a:endParaRPr lang="en-US"/>
          </a:p>
          <a:p>
            <a:endParaRPr lang="en-IN"/>
          </a:p>
        </p:txBody>
      </p:sp>
    </p:spTree>
    <p:extLst>
      <p:ext uri="{BB962C8B-B14F-4D97-AF65-F5344CB8AC3E}">
        <p14:creationId xmlns:p14="http://schemas.microsoft.com/office/powerpoint/2010/main" val="3874742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A0450786-1090-67CB-3B9E-14E5522224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D464A-E67F-E4F2-1033-C88ABE9DB050}"/>
              </a:ext>
            </a:extLst>
          </p:cNvPr>
          <p:cNvSpPr>
            <a:spLocks noGrp="1"/>
          </p:cNvSpPr>
          <p:nvPr>
            <p:ph idx="1"/>
          </p:nvPr>
        </p:nvSpPr>
        <p:spPr>
          <a:xfrm>
            <a:off x="753108" y="2527558"/>
            <a:ext cx="10515600" cy="4351338"/>
          </a:xfrm>
        </p:spPr>
        <p:txBody>
          <a:bodyPr vert="horz" lIns="91440" tIns="45720" rIns="91440" bIns="45720" rtlCol="0" anchor="t">
            <a:normAutofit/>
          </a:bodyPr>
          <a:lstStyle/>
          <a:p>
            <a:pPr marL="0" indent="0">
              <a:buNone/>
            </a:pPr>
            <a:endParaRPr lang="en-IN">
              <a:ea typeface="Calibri"/>
              <a:cs typeface="Calibri"/>
            </a:endParaRPr>
          </a:p>
          <a:p>
            <a:r>
              <a:rPr lang="en-IN">
                <a:ea typeface="Calibri"/>
                <a:cs typeface="Calibri"/>
              </a:rPr>
              <a:t>The Optimisation process provides the following results:</a:t>
            </a:r>
            <a:r>
              <a:rPr lang="en-IN">
                <a:ea typeface="+mn-lt"/>
                <a:cs typeface="+mn-lt"/>
              </a:rPr>
              <a:t> </a:t>
            </a:r>
          </a:p>
          <a:p>
            <a:pPr marL="0" indent="0">
              <a:buNone/>
            </a:pPr>
            <a:r>
              <a:rPr lang="en-IN">
                <a:ea typeface="+mn-lt"/>
                <a:cs typeface="+mn-lt"/>
              </a:rPr>
              <a:t>  </a:t>
            </a:r>
            <a:endParaRPr lang="en-IN">
              <a:ea typeface="Calibri"/>
              <a:cs typeface="Calibri"/>
            </a:endParaRPr>
          </a:p>
          <a:p>
            <a:endParaRPr lang="en-IN">
              <a:ea typeface="Calibri"/>
              <a:cs typeface="Calibri"/>
            </a:endParaRPr>
          </a:p>
          <a:p>
            <a:pPr marL="457200" lvl="1" indent="0">
              <a:buNone/>
            </a:pPr>
            <a:endParaRPr lang="en-IN">
              <a:ea typeface="Calibri"/>
              <a:cs typeface="Calibri"/>
            </a:endParaRPr>
          </a:p>
          <a:p>
            <a:endParaRPr lang="en-IN">
              <a:ea typeface="Calibri"/>
              <a:cs typeface="Calibri"/>
            </a:endParaRPr>
          </a:p>
          <a:p>
            <a:endParaRPr lang="en-IN">
              <a:ea typeface="Calibri"/>
              <a:cs typeface="Calibri"/>
            </a:endParaRPr>
          </a:p>
          <a:p>
            <a:endParaRPr lang="en-IN">
              <a:ea typeface="Calibri"/>
              <a:cs typeface="Calibri"/>
            </a:endParaRPr>
          </a:p>
          <a:p>
            <a:endParaRPr lang="en-IN">
              <a:ea typeface="Calibri"/>
              <a:cs typeface="Calibri"/>
            </a:endParaRPr>
          </a:p>
        </p:txBody>
      </p:sp>
      <p:graphicFrame>
        <p:nvGraphicFramePr>
          <p:cNvPr id="6" name="Table 5">
            <a:extLst>
              <a:ext uri="{FF2B5EF4-FFF2-40B4-BE49-F238E27FC236}">
                <a16:creationId xmlns:a16="http://schemas.microsoft.com/office/drawing/2014/main" id="{1EB442EB-87F4-712D-8F6F-6BC15988C106}"/>
              </a:ext>
            </a:extLst>
          </p:cNvPr>
          <p:cNvGraphicFramePr>
            <a:graphicFrameLocks noGrp="1"/>
          </p:cNvGraphicFramePr>
          <p:nvPr>
            <p:extLst>
              <p:ext uri="{D42A27DB-BD31-4B8C-83A1-F6EECF244321}">
                <p14:modId xmlns:p14="http://schemas.microsoft.com/office/powerpoint/2010/main" val="3870609524"/>
              </p:ext>
            </p:extLst>
          </p:nvPr>
        </p:nvGraphicFramePr>
        <p:xfrm>
          <a:off x="1946909" y="3855991"/>
          <a:ext cx="8127999" cy="221996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val="2132978341"/>
                    </a:ext>
                  </a:extLst>
                </a:gridCol>
                <a:gridCol w="2709333">
                  <a:extLst>
                    <a:ext uri="{9D8B030D-6E8A-4147-A177-3AD203B41FA5}">
                      <a16:colId xmlns:a16="http://schemas.microsoft.com/office/drawing/2014/main" val="3128116695"/>
                    </a:ext>
                  </a:extLst>
                </a:gridCol>
                <a:gridCol w="2709333">
                  <a:extLst>
                    <a:ext uri="{9D8B030D-6E8A-4147-A177-3AD203B41FA5}">
                      <a16:colId xmlns:a16="http://schemas.microsoft.com/office/drawing/2014/main" val="2639576238"/>
                    </a:ext>
                  </a:extLst>
                </a:gridCol>
              </a:tblGrid>
              <a:tr h="272437">
                <a:tc>
                  <a:txBody>
                    <a:bodyPr/>
                    <a:lstStyle/>
                    <a:p>
                      <a:r>
                        <a:rPr lang="en-US"/>
                        <a:t>Variable</a:t>
                      </a:r>
                      <a:endParaRPr lang="en-IN"/>
                    </a:p>
                  </a:txBody>
                  <a:tcPr/>
                </a:tc>
                <a:tc>
                  <a:txBody>
                    <a:bodyPr/>
                    <a:lstStyle/>
                    <a:p>
                      <a:r>
                        <a:rPr lang="en-US"/>
                        <a:t>Value</a:t>
                      </a:r>
                      <a:endParaRPr lang="en-IN"/>
                    </a:p>
                  </a:txBody>
                  <a:tcPr/>
                </a:tc>
                <a:tc>
                  <a:txBody>
                    <a:bodyPr/>
                    <a:lstStyle/>
                    <a:p>
                      <a:r>
                        <a:rPr lang="en-US"/>
                        <a:t>Unit</a:t>
                      </a:r>
                      <a:endParaRPr lang="en-IN"/>
                    </a:p>
                  </a:txBody>
                  <a:tcPr/>
                </a:tc>
                <a:extLst>
                  <a:ext uri="{0D108BD9-81ED-4DB2-BD59-A6C34878D82A}">
                    <a16:rowId xmlns:a16="http://schemas.microsoft.com/office/drawing/2014/main" val="1849272480"/>
                  </a:ext>
                </a:extLst>
              </a:tr>
              <a:tr h="370840">
                <a:tc>
                  <a:txBody>
                    <a:bodyPr/>
                    <a:lstStyle/>
                    <a:p>
                      <a:r>
                        <a:rPr lang="en-IN"/>
                        <a:t>Fertilizer Application</a:t>
                      </a:r>
                    </a:p>
                  </a:txBody>
                  <a:tcPr/>
                </a:tc>
                <a:tc>
                  <a:txBody>
                    <a:bodyPr/>
                    <a:lstStyle/>
                    <a:p>
                      <a:r>
                        <a:rPr lang="en-US"/>
                        <a:t>312.34</a:t>
                      </a:r>
                      <a:endParaRPr lang="en-IN"/>
                    </a:p>
                  </a:txBody>
                  <a:tcPr/>
                </a:tc>
                <a:tc>
                  <a:txBody>
                    <a:bodyPr/>
                    <a:lstStyle/>
                    <a:p>
                      <a:r>
                        <a:rPr lang="en-US"/>
                        <a:t>kg/ha</a:t>
                      </a:r>
                      <a:endParaRPr lang="en-IN"/>
                    </a:p>
                  </a:txBody>
                  <a:tcPr/>
                </a:tc>
                <a:extLst>
                  <a:ext uri="{0D108BD9-81ED-4DB2-BD59-A6C34878D82A}">
                    <a16:rowId xmlns:a16="http://schemas.microsoft.com/office/drawing/2014/main" val="866571"/>
                  </a:ext>
                </a:extLst>
              </a:tr>
              <a:tr h="370840">
                <a:tc>
                  <a:txBody>
                    <a:bodyPr/>
                    <a:lstStyle/>
                    <a:p>
                      <a:r>
                        <a:rPr lang="en-IN"/>
                        <a:t>Technology Investment</a:t>
                      </a:r>
                    </a:p>
                  </a:txBody>
                  <a:tcPr/>
                </a:tc>
                <a:tc>
                  <a:txBody>
                    <a:bodyPr/>
                    <a:lstStyle/>
                    <a:p>
                      <a:r>
                        <a:rPr lang="en-US"/>
                        <a:t>61.48</a:t>
                      </a:r>
                      <a:endParaRPr lang="en-IN"/>
                    </a:p>
                  </a:txBody>
                  <a:tcPr/>
                </a:tc>
                <a:tc>
                  <a:txBody>
                    <a:bodyPr/>
                    <a:lstStyle/>
                    <a:p>
                      <a:r>
                        <a:rPr lang="en-US"/>
                        <a:t>units</a:t>
                      </a:r>
                      <a:endParaRPr lang="en-IN"/>
                    </a:p>
                  </a:txBody>
                  <a:tcPr/>
                </a:tc>
                <a:extLst>
                  <a:ext uri="{0D108BD9-81ED-4DB2-BD59-A6C34878D82A}">
                    <a16:rowId xmlns:a16="http://schemas.microsoft.com/office/drawing/2014/main" val="3529661639"/>
                  </a:ext>
                </a:extLst>
              </a:tr>
              <a:tr h="370840">
                <a:tc>
                  <a:txBody>
                    <a:bodyPr/>
                    <a:lstStyle/>
                    <a:p>
                      <a:r>
                        <a:rPr lang="en-IN"/>
                        <a:t>Predicted Crop Yield</a:t>
                      </a:r>
                    </a:p>
                  </a:txBody>
                  <a:tcPr/>
                </a:tc>
                <a:tc>
                  <a:txBody>
                    <a:bodyPr/>
                    <a:lstStyle/>
                    <a:p>
                      <a:r>
                        <a:rPr lang="en-US"/>
                        <a:t>7.78</a:t>
                      </a:r>
                      <a:endParaRPr lang="en-IN"/>
                    </a:p>
                  </a:txBody>
                  <a:tcPr/>
                </a:tc>
                <a:tc>
                  <a:txBody>
                    <a:bodyPr/>
                    <a:lstStyle/>
                    <a:p>
                      <a:r>
                        <a:rPr lang="en-US"/>
                        <a:t>ton/ha</a:t>
                      </a:r>
                      <a:endParaRPr lang="en-IN"/>
                    </a:p>
                  </a:txBody>
                  <a:tcPr/>
                </a:tc>
                <a:extLst>
                  <a:ext uri="{0D108BD9-81ED-4DB2-BD59-A6C34878D82A}">
                    <a16:rowId xmlns:a16="http://schemas.microsoft.com/office/drawing/2014/main" val="2690512711"/>
                  </a:ext>
                </a:extLst>
              </a:tr>
              <a:tr h="370840">
                <a:tc>
                  <a:txBody>
                    <a:bodyPr/>
                    <a:lstStyle/>
                    <a:p>
                      <a:r>
                        <a:rPr lang="en-IN"/>
                        <a:t>Total Expenditure</a:t>
                      </a:r>
                    </a:p>
                  </a:txBody>
                  <a:tcPr/>
                </a:tc>
                <a:tc>
                  <a:txBody>
                    <a:bodyPr/>
                    <a:lstStyle/>
                    <a:p>
                      <a:r>
                        <a:rPr lang="en-US"/>
                        <a:t>932.08</a:t>
                      </a:r>
                      <a:endParaRPr lang="en-IN"/>
                    </a:p>
                  </a:txBody>
                  <a:tcPr/>
                </a:tc>
                <a:tc>
                  <a:txBody>
                    <a:bodyPr/>
                    <a:lstStyle/>
                    <a:p>
                      <a:r>
                        <a:rPr lang="en-US"/>
                        <a:t>units</a:t>
                      </a:r>
                      <a:endParaRPr lang="en-IN"/>
                    </a:p>
                  </a:txBody>
                  <a:tcPr/>
                </a:tc>
                <a:extLst>
                  <a:ext uri="{0D108BD9-81ED-4DB2-BD59-A6C34878D82A}">
                    <a16:rowId xmlns:a16="http://schemas.microsoft.com/office/drawing/2014/main" val="4057822819"/>
                  </a:ext>
                </a:extLst>
              </a:tr>
              <a:tr h="370840">
                <a:tc>
                  <a:txBody>
                    <a:bodyPr/>
                    <a:lstStyle/>
                    <a:p>
                      <a:r>
                        <a:rPr lang="en-IN"/>
                        <a:t>Budget Utilization</a:t>
                      </a:r>
                    </a:p>
                  </a:txBody>
                  <a:tcPr/>
                </a:tc>
                <a:tc>
                  <a:txBody>
                    <a:bodyPr/>
                    <a:lstStyle/>
                    <a:p>
                      <a:r>
                        <a:rPr lang="en-US"/>
                        <a:t>93.2</a:t>
                      </a:r>
                      <a:endParaRPr lang="en-IN"/>
                    </a:p>
                  </a:txBody>
                  <a:tcPr/>
                </a:tc>
                <a:tc>
                  <a:txBody>
                    <a:bodyPr/>
                    <a:lstStyle/>
                    <a:p>
                      <a:r>
                        <a:rPr lang="en-US"/>
                        <a:t>%</a:t>
                      </a:r>
                      <a:endParaRPr lang="en-IN"/>
                    </a:p>
                  </a:txBody>
                  <a:tcPr/>
                </a:tc>
                <a:extLst>
                  <a:ext uri="{0D108BD9-81ED-4DB2-BD59-A6C34878D82A}">
                    <a16:rowId xmlns:a16="http://schemas.microsoft.com/office/drawing/2014/main" val="3770516381"/>
                  </a:ext>
                </a:extLst>
              </a:tr>
            </a:tbl>
          </a:graphicData>
        </a:graphic>
      </p:graphicFrame>
      <p:sp>
        <p:nvSpPr>
          <p:cNvPr id="5" name="TextBox 4">
            <a:extLst>
              <a:ext uri="{FF2B5EF4-FFF2-40B4-BE49-F238E27FC236}">
                <a16:creationId xmlns:a16="http://schemas.microsoft.com/office/drawing/2014/main" id="{D85F713A-5F39-0392-FADD-574BA3A0B7A7}"/>
              </a:ext>
            </a:extLst>
          </p:cNvPr>
          <p:cNvSpPr txBox="1"/>
          <p:nvPr/>
        </p:nvSpPr>
        <p:spPr>
          <a:xfrm>
            <a:off x="769619" y="461327"/>
            <a:ext cx="2354580" cy="523220"/>
          </a:xfrm>
          <a:prstGeom prst="rect">
            <a:avLst/>
          </a:prstGeom>
          <a:noFill/>
        </p:spPr>
        <p:txBody>
          <a:bodyPr wrap="square" rtlCol="0">
            <a:spAutoFit/>
          </a:bodyPr>
          <a:lstStyle/>
          <a:p>
            <a:pPr marL="285750" indent="-285750">
              <a:buFont typeface="Arial" panose="020B0604020202020204" pitchFamily="34" charset="0"/>
              <a:buChar char="•"/>
            </a:pPr>
            <a:r>
              <a:rPr lang="en-US" sz="2800"/>
              <a:t>Input Table:</a:t>
            </a:r>
            <a:endParaRPr lang="en-IN" sz="2800"/>
          </a:p>
        </p:txBody>
      </p:sp>
      <p:graphicFrame>
        <p:nvGraphicFramePr>
          <p:cNvPr id="7" name="Table 6">
            <a:extLst>
              <a:ext uri="{FF2B5EF4-FFF2-40B4-BE49-F238E27FC236}">
                <a16:creationId xmlns:a16="http://schemas.microsoft.com/office/drawing/2014/main" id="{3A280387-1FC2-9198-95E7-D522AFCB6D1F}"/>
              </a:ext>
            </a:extLst>
          </p:cNvPr>
          <p:cNvGraphicFramePr>
            <a:graphicFrameLocks noGrp="1"/>
          </p:cNvGraphicFramePr>
          <p:nvPr>
            <p:extLst>
              <p:ext uri="{D42A27DB-BD31-4B8C-83A1-F6EECF244321}">
                <p14:modId xmlns:p14="http://schemas.microsoft.com/office/powerpoint/2010/main" val="152968817"/>
              </p:ext>
            </p:extLst>
          </p:nvPr>
        </p:nvGraphicFramePr>
        <p:xfrm>
          <a:off x="1946909" y="1275943"/>
          <a:ext cx="8127999" cy="148336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val="921312647"/>
                    </a:ext>
                  </a:extLst>
                </a:gridCol>
                <a:gridCol w="2709333">
                  <a:extLst>
                    <a:ext uri="{9D8B030D-6E8A-4147-A177-3AD203B41FA5}">
                      <a16:colId xmlns:a16="http://schemas.microsoft.com/office/drawing/2014/main" val="1376472158"/>
                    </a:ext>
                  </a:extLst>
                </a:gridCol>
                <a:gridCol w="2709333">
                  <a:extLst>
                    <a:ext uri="{9D8B030D-6E8A-4147-A177-3AD203B41FA5}">
                      <a16:colId xmlns:a16="http://schemas.microsoft.com/office/drawing/2014/main" val="564985814"/>
                    </a:ext>
                  </a:extLst>
                </a:gridCol>
              </a:tblGrid>
              <a:tr h="370840">
                <a:tc>
                  <a:txBody>
                    <a:bodyPr/>
                    <a:lstStyle/>
                    <a:p>
                      <a:r>
                        <a:rPr lang="en-US"/>
                        <a:t>Variable</a:t>
                      </a:r>
                      <a:endParaRPr lang="en-IN"/>
                    </a:p>
                  </a:txBody>
                  <a:tcPr/>
                </a:tc>
                <a:tc>
                  <a:txBody>
                    <a:bodyPr/>
                    <a:lstStyle/>
                    <a:p>
                      <a:r>
                        <a:rPr lang="en-US"/>
                        <a:t>Value</a:t>
                      </a:r>
                      <a:endParaRPr lang="en-IN"/>
                    </a:p>
                  </a:txBody>
                  <a:tcPr/>
                </a:tc>
                <a:tc>
                  <a:txBody>
                    <a:bodyPr/>
                    <a:lstStyle/>
                    <a:p>
                      <a:r>
                        <a:rPr lang="en-US"/>
                        <a:t>Unit</a:t>
                      </a:r>
                      <a:endParaRPr lang="en-IN"/>
                    </a:p>
                  </a:txBody>
                  <a:tcPr/>
                </a:tc>
                <a:extLst>
                  <a:ext uri="{0D108BD9-81ED-4DB2-BD59-A6C34878D82A}">
                    <a16:rowId xmlns:a16="http://schemas.microsoft.com/office/drawing/2014/main" val="927054462"/>
                  </a:ext>
                </a:extLst>
              </a:tr>
              <a:tr h="370840">
                <a:tc>
                  <a:txBody>
                    <a:bodyPr/>
                    <a:lstStyle/>
                    <a:p>
                      <a:r>
                        <a:rPr lang="en-US"/>
                        <a:t>Rainfall</a:t>
                      </a:r>
                      <a:endParaRPr lang="en-IN"/>
                    </a:p>
                  </a:txBody>
                  <a:tcPr/>
                </a:tc>
                <a:tc>
                  <a:txBody>
                    <a:bodyPr/>
                    <a:lstStyle/>
                    <a:p>
                      <a:r>
                        <a:rPr lang="en-US"/>
                        <a:t>1236.78</a:t>
                      </a:r>
                      <a:endParaRPr lang="en-IN"/>
                    </a:p>
                  </a:txBody>
                  <a:tcPr/>
                </a:tc>
                <a:tc>
                  <a:txBody>
                    <a:bodyPr/>
                    <a:lstStyle/>
                    <a:p>
                      <a:r>
                        <a:rPr lang="en-US"/>
                        <a:t>mm</a:t>
                      </a:r>
                      <a:endParaRPr lang="en-IN"/>
                    </a:p>
                  </a:txBody>
                  <a:tcPr/>
                </a:tc>
                <a:extLst>
                  <a:ext uri="{0D108BD9-81ED-4DB2-BD59-A6C34878D82A}">
                    <a16:rowId xmlns:a16="http://schemas.microsoft.com/office/drawing/2014/main" val="4262848942"/>
                  </a:ext>
                </a:extLst>
              </a:tr>
              <a:tr h="370840">
                <a:tc>
                  <a:txBody>
                    <a:bodyPr/>
                    <a:lstStyle/>
                    <a:p>
                      <a:r>
                        <a:rPr lang="en-US"/>
                        <a:t>Average Temperature</a:t>
                      </a:r>
                      <a:endParaRPr lang="en-IN"/>
                    </a:p>
                  </a:txBody>
                  <a:tcPr/>
                </a:tc>
                <a:tc>
                  <a:txBody>
                    <a:bodyPr/>
                    <a:lstStyle/>
                    <a:p>
                      <a:r>
                        <a:rPr lang="en-US"/>
                        <a:t>25.82</a:t>
                      </a:r>
                      <a:endParaRPr lang="en-IN"/>
                    </a:p>
                  </a:txBody>
                  <a:tcPr/>
                </a:tc>
                <a:tc>
                  <a:txBody>
                    <a:bodyPr/>
                    <a:lstStyle/>
                    <a:p>
                      <a:r>
                        <a:rPr lang="en-IN"/>
                        <a:t>°C</a:t>
                      </a:r>
                    </a:p>
                  </a:txBody>
                  <a:tcPr/>
                </a:tc>
                <a:extLst>
                  <a:ext uri="{0D108BD9-81ED-4DB2-BD59-A6C34878D82A}">
                    <a16:rowId xmlns:a16="http://schemas.microsoft.com/office/drawing/2014/main" val="741187349"/>
                  </a:ext>
                </a:extLst>
              </a:tr>
              <a:tr h="370840">
                <a:tc>
                  <a:txBody>
                    <a:bodyPr/>
                    <a:lstStyle/>
                    <a:p>
                      <a:r>
                        <a:rPr lang="en-US"/>
                        <a:t>Pest Incidents</a:t>
                      </a:r>
                      <a:endParaRPr lang="en-IN"/>
                    </a:p>
                  </a:txBody>
                  <a:tcPr/>
                </a:tc>
                <a:tc>
                  <a:txBody>
                    <a:bodyPr/>
                    <a:lstStyle/>
                    <a:p>
                      <a:r>
                        <a:rPr lang="en-US"/>
                        <a:t>3</a:t>
                      </a:r>
                      <a:endParaRPr lang="en-IN"/>
                    </a:p>
                  </a:txBody>
                  <a:tcPr/>
                </a:tc>
                <a:tc>
                  <a:txBody>
                    <a:bodyPr/>
                    <a:lstStyle/>
                    <a:p>
                      <a:r>
                        <a:rPr lang="en-US"/>
                        <a:t>count</a:t>
                      </a:r>
                      <a:endParaRPr lang="en-IN"/>
                    </a:p>
                  </a:txBody>
                  <a:tcPr/>
                </a:tc>
                <a:extLst>
                  <a:ext uri="{0D108BD9-81ED-4DB2-BD59-A6C34878D82A}">
                    <a16:rowId xmlns:a16="http://schemas.microsoft.com/office/drawing/2014/main" val="971182548"/>
                  </a:ext>
                </a:extLst>
              </a:tr>
            </a:tbl>
          </a:graphicData>
        </a:graphic>
      </p:graphicFrame>
    </p:spTree>
    <p:extLst>
      <p:ext uri="{BB962C8B-B14F-4D97-AF65-F5344CB8AC3E}">
        <p14:creationId xmlns:p14="http://schemas.microsoft.com/office/powerpoint/2010/main" val="2720956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a:extLst>
            <a:ext uri="{FF2B5EF4-FFF2-40B4-BE49-F238E27FC236}">
              <a16:creationId xmlns:a16="http://schemas.microsoft.com/office/drawing/2014/main" id="{0B817486-212A-59C3-8DC9-887C2FE39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F3823-8D89-4DEF-9B53-E5F25BE3F65F}"/>
              </a:ext>
            </a:extLst>
          </p:cNvPr>
          <p:cNvSpPr>
            <a:spLocks noGrp="1"/>
          </p:cNvSpPr>
          <p:nvPr>
            <p:ph type="title"/>
          </p:nvPr>
        </p:nvSpPr>
        <p:spPr>
          <a:xfrm>
            <a:off x="769620" y="429260"/>
            <a:ext cx="10515600" cy="1325563"/>
          </a:xfrm>
        </p:spPr>
        <p:txBody>
          <a:bodyPr/>
          <a:lstStyle/>
          <a:p>
            <a:r>
              <a:rPr lang="en-US" sz="4000" b="1" u="sng">
                <a:ea typeface="Calibri Light"/>
                <a:cs typeface="Calibri Light"/>
              </a:rPr>
              <a:t>Optimization Problem to maximize Crop Yield (ton/ha) using Random Forest Regression:</a:t>
            </a:r>
            <a:endParaRPr lang="en-IN" sz="4000">
              <a:ea typeface="Calibri Light"/>
              <a:cs typeface="Calibri Light"/>
            </a:endParaRPr>
          </a:p>
          <a:p>
            <a:endParaRPr lang="en-US" b="1" u="sng">
              <a:ea typeface="Calibri Light"/>
              <a:cs typeface="Calibri Light"/>
            </a:endParaRPr>
          </a:p>
        </p:txBody>
      </p:sp>
      <p:sp>
        <p:nvSpPr>
          <p:cNvPr id="3" name="Content Placeholder 2">
            <a:extLst>
              <a:ext uri="{FF2B5EF4-FFF2-40B4-BE49-F238E27FC236}">
                <a16:creationId xmlns:a16="http://schemas.microsoft.com/office/drawing/2014/main" id="{31ABA82B-6C0C-2087-6494-3C4958BB73A1}"/>
              </a:ext>
            </a:extLst>
          </p:cNvPr>
          <p:cNvSpPr>
            <a:spLocks noGrp="1"/>
          </p:cNvSpPr>
          <p:nvPr>
            <p:ph idx="1"/>
          </p:nvPr>
        </p:nvSpPr>
        <p:spPr>
          <a:xfrm>
            <a:off x="769619" y="3050699"/>
            <a:ext cx="10515600" cy="4351338"/>
          </a:xfrm>
        </p:spPr>
        <p:txBody>
          <a:bodyPr vert="horz" lIns="91440" tIns="45720" rIns="91440" bIns="45720" rtlCol="0" anchor="t">
            <a:normAutofit/>
          </a:bodyPr>
          <a:lstStyle/>
          <a:p>
            <a:pPr marL="0" indent="0">
              <a:buNone/>
            </a:pPr>
            <a:r>
              <a:rPr lang="en-IN">
                <a:ea typeface="+mn-lt"/>
                <a:cs typeface="+mn-lt"/>
              </a:rPr>
              <a:t>  </a:t>
            </a:r>
            <a:endParaRPr lang="en-IN">
              <a:ea typeface="Calibri"/>
              <a:cs typeface="Calibri"/>
            </a:endParaRPr>
          </a:p>
          <a:p>
            <a:endParaRPr lang="en-IN">
              <a:ea typeface="Calibri"/>
              <a:cs typeface="Calibri"/>
            </a:endParaRPr>
          </a:p>
          <a:p>
            <a:pPr marL="457200" lvl="1" indent="0">
              <a:buNone/>
            </a:pPr>
            <a:endParaRPr lang="en-IN">
              <a:ea typeface="Calibri"/>
              <a:cs typeface="Calibri"/>
            </a:endParaRPr>
          </a:p>
          <a:p>
            <a:endParaRPr lang="en-IN">
              <a:ea typeface="Calibri"/>
              <a:cs typeface="Calibri"/>
            </a:endParaRPr>
          </a:p>
          <a:p>
            <a:endParaRPr lang="en-IN">
              <a:ea typeface="Calibri"/>
              <a:cs typeface="Calibri"/>
            </a:endParaRPr>
          </a:p>
          <a:p>
            <a:endParaRPr lang="en-IN">
              <a:ea typeface="Calibri"/>
              <a:cs typeface="Calibri"/>
            </a:endParaRPr>
          </a:p>
          <a:p>
            <a:endParaRPr lang="en-IN">
              <a:ea typeface="Calibri"/>
              <a:cs typeface="Calibri"/>
            </a:endParaRPr>
          </a:p>
        </p:txBody>
      </p:sp>
      <p:pic>
        <p:nvPicPr>
          <p:cNvPr id="4" name="Picture 3" descr="A graph with blue dots and a red dot&#10;&#10;AI-generated content may be incorrect.">
            <a:extLst>
              <a:ext uri="{FF2B5EF4-FFF2-40B4-BE49-F238E27FC236}">
                <a16:creationId xmlns:a16="http://schemas.microsoft.com/office/drawing/2014/main" id="{5FCE6293-FA76-D6D5-409D-9A3CDF24A7DE}"/>
              </a:ext>
            </a:extLst>
          </p:cNvPr>
          <p:cNvPicPr>
            <a:picLocks noChangeAspect="1"/>
          </p:cNvPicPr>
          <p:nvPr/>
        </p:nvPicPr>
        <p:blipFill>
          <a:blip r:embed="rId2"/>
          <a:stretch>
            <a:fillRect/>
          </a:stretch>
        </p:blipFill>
        <p:spPr>
          <a:xfrm>
            <a:off x="772478" y="1443673"/>
            <a:ext cx="6349365" cy="4112895"/>
          </a:xfrm>
          <a:prstGeom prst="rect">
            <a:avLst/>
          </a:prstGeom>
        </p:spPr>
      </p:pic>
      <p:sp>
        <p:nvSpPr>
          <p:cNvPr id="8" name="TextBox 7">
            <a:extLst>
              <a:ext uri="{FF2B5EF4-FFF2-40B4-BE49-F238E27FC236}">
                <a16:creationId xmlns:a16="http://schemas.microsoft.com/office/drawing/2014/main" id="{3F1D5417-0220-791A-D680-A904FA520252}"/>
              </a:ext>
            </a:extLst>
          </p:cNvPr>
          <p:cNvSpPr txBox="1"/>
          <p:nvPr/>
        </p:nvSpPr>
        <p:spPr>
          <a:xfrm>
            <a:off x="7331675" y="1449859"/>
            <a:ext cx="4712043"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ea typeface="+mn-lt"/>
                <a:cs typeface="+mn-lt"/>
              </a:rPr>
              <a:t>The algorithm quickly finds solutions with yields around 7.78 ton/ha.</a:t>
            </a:r>
          </a:p>
          <a:p>
            <a:pPr marL="285750" indent="-285750">
              <a:buFont typeface="Arial"/>
              <a:buChar char="•"/>
            </a:pPr>
            <a:r>
              <a:rPr lang="en-US" sz="2000">
                <a:ea typeface="+mn-lt"/>
                <a:cs typeface="+mn-lt"/>
              </a:rPr>
              <a:t>Negative values early on represent random uninformed exploration or it may be penalty scores for budget violations. I.e. the model assigns large negative values when prediction is invalid, or it violates the parametric conditions.</a:t>
            </a:r>
          </a:p>
          <a:p>
            <a:pPr>
              <a:buFont typeface="Arial"/>
              <a:buChar char="•"/>
            </a:pPr>
            <a:r>
              <a:rPr lang="en-US" sz="2000">
                <a:ea typeface="+mn-lt"/>
                <a:cs typeface="+mn-lt"/>
              </a:rPr>
              <a:t>    The later fluctuations indicates the algorithm trying new combinations. </a:t>
            </a:r>
          </a:p>
          <a:p>
            <a:pPr marL="285750" indent="-285750">
              <a:buFont typeface="Arial"/>
              <a:buChar char="•"/>
            </a:pPr>
            <a:r>
              <a:rPr lang="en-US" sz="2000">
                <a:ea typeface="+mn-lt"/>
                <a:cs typeface="+mn-lt"/>
              </a:rPr>
              <a:t>The slight stable parts indicates convergence to the optimal solution.</a:t>
            </a:r>
            <a:endParaRPr lang="en-US" sz="2000"/>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a:ea typeface="Calibri" panose="020F0502020204030204"/>
              <a:cs typeface="Calibri" panose="020F0502020204030204"/>
            </a:endParaRPr>
          </a:p>
        </p:txBody>
      </p:sp>
      <p:sp>
        <p:nvSpPr>
          <p:cNvPr id="10" name="TextBox 9">
            <a:extLst>
              <a:ext uri="{FF2B5EF4-FFF2-40B4-BE49-F238E27FC236}">
                <a16:creationId xmlns:a16="http://schemas.microsoft.com/office/drawing/2014/main" id="{486D7B03-3BF5-9ED4-25BE-D5A3748BB584}"/>
              </a:ext>
            </a:extLst>
          </p:cNvPr>
          <p:cNvSpPr txBox="1"/>
          <p:nvPr/>
        </p:nvSpPr>
        <p:spPr>
          <a:xfrm>
            <a:off x="757880" y="6128951"/>
            <a:ext cx="64419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ea typeface="Calibri"/>
                <a:cs typeface="Calibri"/>
              </a:rPr>
              <a:t>RED DOT </a:t>
            </a:r>
            <a:r>
              <a:rPr lang="en-US">
                <a:ea typeface="Calibri"/>
                <a:cs typeface="Calibri"/>
              </a:rPr>
              <a:t>indicates best Predicted Crop Yield.</a:t>
            </a:r>
            <a:endParaRPr lang="en-US"/>
          </a:p>
        </p:txBody>
      </p:sp>
    </p:spTree>
    <p:extLst>
      <p:ext uri="{BB962C8B-B14F-4D97-AF65-F5344CB8AC3E}">
        <p14:creationId xmlns:p14="http://schemas.microsoft.com/office/powerpoint/2010/main" val="520778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FC76E-0125-AFDD-10FE-8D936ACCDBEF}"/>
              </a:ext>
            </a:extLst>
          </p:cNvPr>
          <p:cNvSpPr>
            <a:spLocks noGrp="1"/>
          </p:cNvSpPr>
          <p:nvPr>
            <p:ph type="title"/>
          </p:nvPr>
        </p:nvSpPr>
        <p:spPr>
          <a:xfrm>
            <a:off x="555268" y="402345"/>
            <a:ext cx="10515600" cy="1325563"/>
          </a:xfrm>
        </p:spPr>
        <p:txBody>
          <a:bodyPr>
            <a:normAutofit fontScale="90000"/>
          </a:bodyPr>
          <a:lstStyle/>
          <a:p>
            <a:r>
              <a:rPr lang="en-US" b="1" u="sng" dirty="0">
                <a:ea typeface="Calibri Light"/>
                <a:cs typeface="Calibri Light"/>
              </a:rPr>
              <a:t>Prediction of Human factors for desired crop yield:</a:t>
            </a:r>
            <a:br>
              <a:rPr lang="en-US" b="1" u="sng" dirty="0">
                <a:ea typeface="Calibri Light"/>
                <a:cs typeface="Calibri Light"/>
              </a:rPr>
            </a:br>
            <a:endParaRPr lang="en-US" sz="2400" b="1" dirty="0">
              <a:ea typeface="Calibri Light"/>
              <a:cs typeface="Calibri Light"/>
            </a:endParaRPr>
          </a:p>
        </p:txBody>
      </p:sp>
      <p:graphicFrame>
        <p:nvGraphicFramePr>
          <p:cNvPr id="13" name="Content Placeholder 12">
            <a:extLst>
              <a:ext uri="{FF2B5EF4-FFF2-40B4-BE49-F238E27FC236}">
                <a16:creationId xmlns:a16="http://schemas.microsoft.com/office/drawing/2014/main" id="{FBD452AE-B2FA-C667-F794-092AD94CCC73}"/>
              </a:ext>
            </a:extLst>
          </p:cNvPr>
          <p:cNvGraphicFramePr>
            <a:graphicFrameLocks noGrp="1"/>
          </p:cNvGraphicFramePr>
          <p:nvPr>
            <p:ph idx="1"/>
            <p:extLst>
              <p:ext uri="{D42A27DB-BD31-4B8C-83A1-F6EECF244321}">
                <p14:modId xmlns:p14="http://schemas.microsoft.com/office/powerpoint/2010/main" val="198902839"/>
              </p:ext>
            </p:extLst>
          </p:nvPr>
        </p:nvGraphicFramePr>
        <p:xfrm>
          <a:off x="1116227" y="1949193"/>
          <a:ext cx="8734349" cy="1485237"/>
        </p:xfrm>
        <a:graphic>
          <a:graphicData uri="http://schemas.openxmlformats.org/drawingml/2006/table">
            <a:tbl>
              <a:tblPr firstRow="1" bandRow="1">
                <a:tableStyleId>{93296810-A885-4BE3-A3E7-6D5BEEA58F35}</a:tableStyleId>
              </a:tblPr>
              <a:tblGrid>
                <a:gridCol w="1696969">
                  <a:extLst>
                    <a:ext uri="{9D8B030D-6E8A-4147-A177-3AD203B41FA5}">
                      <a16:colId xmlns:a16="http://schemas.microsoft.com/office/drawing/2014/main" val="2229602012"/>
                    </a:ext>
                  </a:extLst>
                </a:gridCol>
                <a:gridCol w="1719902">
                  <a:extLst>
                    <a:ext uri="{9D8B030D-6E8A-4147-A177-3AD203B41FA5}">
                      <a16:colId xmlns:a16="http://schemas.microsoft.com/office/drawing/2014/main" val="3443602316"/>
                    </a:ext>
                  </a:extLst>
                </a:gridCol>
                <a:gridCol w="5317478">
                  <a:extLst>
                    <a:ext uri="{9D8B030D-6E8A-4147-A177-3AD203B41FA5}">
                      <a16:colId xmlns:a16="http://schemas.microsoft.com/office/drawing/2014/main" val="3582573365"/>
                    </a:ext>
                  </a:extLst>
                </a:gridCol>
              </a:tblGrid>
              <a:tr h="370840">
                <a:tc>
                  <a:txBody>
                    <a:bodyPr/>
                    <a:lstStyle/>
                    <a:p>
                      <a:r>
                        <a:rPr lang="en-US"/>
                        <a:t>METRIC</a:t>
                      </a:r>
                    </a:p>
                  </a:txBody>
                  <a:tcPr/>
                </a:tc>
                <a:tc>
                  <a:txBody>
                    <a:bodyPr/>
                    <a:lstStyle/>
                    <a:p>
                      <a:r>
                        <a:rPr lang="en-US"/>
                        <a:t>VALUE</a:t>
                      </a:r>
                    </a:p>
                  </a:txBody>
                  <a:tcPr/>
                </a:tc>
                <a:tc>
                  <a:txBody>
                    <a:bodyPr/>
                    <a:lstStyle/>
                    <a:p>
                      <a:r>
                        <a:rPr lang="en-US"/>
                        <a:t>INTERPRETATION</a:t>
                      </a:r>
                    </a:p>
                  </a:txBody>
                  <a:tcPr/>
                </a:tc>
                <a:extLst>
                  <a:ext uri="{0D108BD9-81ED-4DB2-BD59-A6C34878D82A}">
                    <a16:rowId xmlns:a16="http://schemas.microsoft.com/office/drawing/2014/main" val="2969994668"/>
                  </a:ext>
                </a:extLst>
              </a:tr>
              <a:tr h="372717">
                <a:tc>
                  <a:txBody>
                    <a:bodyPr/>
                    <a:lstStyle/>
                    <a:p>
                      <a:r>
                        <a:rPr lang="en-US"/>
                        <a:t>RMSE</a:t>
                      </a:r>
                    </a:p>
                  </a:txBody>
                  <a:tcPr/>
                </a:tc>
                <a:tc>
                  <a:txBody>
                    <a:bodyPr/>
                    <a:lstStyle/>
                    <a:p>
                      <a:r>
                        <a:rPr lang="en-US"/>
                        <a:t>3.744</a:t>
                      </a:r>
                    </a:p>
                  </a:txBody>
                  <a:tcPr/>
                </a:tc>
                <a:tc>
                  <a:txBody>
                    <a:bodyPr/>
                    <a:lstStyle/>
                    <a:p>
                      <a:pPr lvl="0">
                        <a:buNone/>
                      </a:pPr>
                      <a:r>
                        <a:rPr lang="en-US"/>
                        <a:t>Root Mean Squared Error</a:t>
                      </a:r>
                    </a:p>
                  </a:txBody>
                  <a:tcPr/>
                </a:tc>
                <a:extLst>
                  <a:ext uri="{0D108BD9-81ED-4DB2-BD59-A6C34878D82A}">
                    <a16:rowId xmlns:a16="http://schemas.microsoft.com/office/drawing/2014/main" val="3928465353"/>
                  </a:ext>
                </a:extLst>
              </a:tr>
              <a:tr h="370840">
                <a:tc>
                  <a:txBody>
                    <a:bodyPr/>
                    <a:lstStyle/>
                    <a:p>
                      <a:r>
                        <a:rPr lang="en-US"/>
                        <a:t>R^2</a:t>
                      </a:r>
                    </a:p>
                  </a:txBody>
                  <a:tcPr/>
                </a:tc>
                <a:tc>
                  <a:txBody>
                    <a:bodyPr/>
                    <a:lstStyle/>
                    <a:p>
                      <a:r>
                        <a:rPr lang="en-US"/>
                        <a:t>95.9%</a:t>
                      </a:r>
                    </a:p>
                  </a:txBody>
                  <a:tcPr/>
                </a:tc>
                <a:tc>
                  <a:txBody>
                    <a:bodyPr/>
                    <a:lstStyle/>
                    <a:p>
                      <a:r>
                        <a:rPr lang="en-US"/>
                        <a:t>Model explains 95.9% of variance</a:t>
                      </a:r>
                    </a:p>
                  </a:txBody>
                  <a:tcPr/>
                </a:tc>
                <a:extLst>
                  <a:ext uri="{0D108BD9-81ED-4DB2-BD59-A6C34878D82A}">
                    <a16:rowId xmlns:a16="http://schemas.microsoft.com/office/drawing/2014/main" val="1670781459"/>
                  </a:ext>
                </a:extLst>
              </a:tr>
              <a:tr h="370840">
                <a:tc>
                  <a:txBody>
                    <a:bodyPr/>
                    <a:lstStyle/>
                    <a:p>
                      <a:r>
                        <a:rPr lang="en-US"/>
                        <a:t>Adjusted R^2</a:t>
                      </a:r>
                    </a:p>
                  </a:txBody>
                  <a:tcPr/>
                </a:tc>
                <a:tc>
                  <a:txBody>
                    <a:bodyPr/>
                    <a:lstStyle/>
                    <a:p>
                      <a:r>
                        <a:rPr lang="en-US"/>
                        <a:t>86.2%</a:t>
                      </a:r>
                    </a:p>
                  </a:txBody>
                  <a:tcPr/>
                </a:tc>
                <a:tc>
                  <a:txBody>
                    <a:bodyPr/>
                    <a:lstStyle/>
                    <a:p>
                      <a:r>
                        <a:rPr lang="en-US"/>
                        <a:t>Model explains 86.2% of variance</a:t>
                      </a:r>
                    </a:p>
                  </a:txBody>
                  <a:tcPr/>
                </a:tc>
                <a:extLst>
                  <a:ext uri="{0D108BD9-81ED-4DB2-BD59-A6C34878D82A}">
                    <a16:rowId xmlns:a16="http://schemas.microsoft.com/office/drawing/2014/main" val="3463302599"/>
                  </a:ext>
                </a:extLst>
              </a:tr>
            </a:tbl>
          </a:graphicData>
        </a:graphic>
      </p:graphicFrame>
      <p:sp>
        <p:nvSpPr>
          <p:cNvPr id="14" name="TextBox 13">
            <a:extLst>
              <a:ext uri="{FF2B5EF4-FFF2-40B4-BE49-F238E27FC236}">
                <a16:creationId xmlns:a16="http://schemas.microsoft.com/office/drawing/2014/main" id="{168B129F-049B-92D1-B1A2-9AAA6E5B2A7E}"/>
              </a:ext>
            </a:extLst>
          </p:cNvPr>
          <p:cNvSpPr txBox="1"/>
          <p:nvPr/>
        </p:nvSpPr>
        <p:spPr>
          <a:xfrm>
            <a:off x="991899" y="3547343"/>
            <a:ext cx="863627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Calibri"/>
                <a:cs typeface="Calibri"/>
              </a:rPr>
              <a:t>Evaluation Metrics on Training Dataset</a:t>
            </a:r>
          </a:p>
        </p:txBody>
      </p:sp>
      <p:graphicFrame>
        <p:nvGraphicFramePr>
          <p:cNvPr id="15" name="Table 14">
            <a:extLst>
              <a:ext uri="{FF2B5EF4-FFF2-40B4-BE49-F238E27FC236}">
                <a16:creationId xmlns:a16="http://schemas.microsoft.com/office/drawing/2014/main" id="{B9024070-8F6C-1C7B-82F3-5EB5F9CABCB4}"/>
              </a:ext>
            </a:extLst>
          </p:cNvPr>
          <p:cNvGraphicFramePr>
            <a:graphicFrameLocks noGrp="1"/>
          </p:cNvGraphicFramePr>
          <p:nvPr>
            <p:extLst>
              <p:ext uri="{D42A27DB-BD31-4B8C-83A1-F6EECF244321}">
                <p14:modId xmlns:p14="http://schemas.microsoft.com/office/powerpoint/2010/main" val="357556751"/>
              </p:ext>
            </p:extLst>
          </p:nvPr>
        </p:nvGraphicFramePr>
        <p:xfrm>
          <a:off x="1167302" y="4254349"/>
          <a:ext cx="8817621" cy="1483360"/>
        </p:xfrm>
        <a:graphic>
          <a:graphicData uri="http://schemas.openxmlformats.org/drawingml/2006/table">
            <a:tbl>
              <a:tblPr firstRow="1" bandRow="1">
                <a:tableStyleId>{93296810-A885-4BE3-A3E7-6D5BEEA58F35}</a:tableStyleId>
              </a:tblPr>
              <a:tblGrid>
                <a:gridCol w="1822173">
                  <a:extLst>
                    <a:ext uri="{9D8B030D-6E8A-4147-A177-3AD203B41FA5}">
                      <a16:colId xmlns:a16="http://schemas.microsoft.com/office/drawing/2014/main" val="4110320022"/>
                    </a:ext>
                  </a:extLst>
                </a:gridCol>
                <a:gridCol w="1739347">
                  <a:extLst>
                    <a:ext uri="{9D8B030D-6E8A-4147-A177-3AD203B41FA5}">
                      <a16:colId xmlns:a16="http://schemas.microsoft.com/office/drawing/2014/main" val="2529169678"/>
                    </a:ext>
                  </a:extLst>
                </a:gridCol>
                <a:gridCol w="5256101">
                  <a:extLst>
                    <a:ext uri="{9D8B030D-6E8A-4147-A177-3AD203B41FA5}">
                      <a16:colId xmlns:a16="http://schemas.microsoft.com/office/drawing/2014/main" val="1125862305"/>
                    </a:ext>
                  </a:extLst>
                </a:gridCol>
              </a:tblGrid>
              <a:tr h="370840">
                <a:tc>
                  <a:txBody>
                    <a:bodyPr/>
                    <a:lstStyle/>
                    <a:p>
                      <a:r>
                        <a:rPr lang="en-US"/>
                        <a:t>METRIC</a:t>
                      </a:r>
                    </a:p>
                  </a:txBody>
                  <a:tcPr/>
                </a:tc>
                <a:tc>
                  <a:txBody>
                    <a:bodyPr/>
                    <a:lstStyle/>
                    <a:p>
                      <a:r>
                        <a:rPr lang="en-US"/>
                        <a:t>VALUE</a:t>
                      </a:r>
                    </a:p>
                  </a:txBody>
                  <a:tcPr/>
                </a:tc>
                <a:tc>
                  <a:txBody>
                    <a:bodyPr/>
                    <a:lstStyle/>
                    <a:p>
                      <a:r>
                        <a:rPr lang="en-US"/>
                        <a:t>INTERPRETATION</a:t>
                      </a:r>
                    </a:p>
                  </a:txBody>
                  <a:tcPr/>
                </a:tc>
                <a:extLst>
                  <a:ext uri="{0D108BD9-81ED-4DB2-BD59-A6C34878D82A}">
                    <a16:rowId xmlns:a16="http://schemas.microsoft.com/office/drawing/2014/main" val="2711622356"/>
                  </a:ext>
                </a:extLst>
              </a:tr>
              <a:tr h="370840">
                <a:tc>
                  <a:txBody>
                    <a:bodyPr/>
                    <a:lstStyle/>
                    <a:p>
                      <a:r>
                        <a:rPr lang="en-US"/>
                        <a:t>RMSE</a:t>
                      </a:r>
                    </a:p>
                  </a:txBody>
                  <a:tcPr/>
                </a:tc>
                <a:tc>
                  <a:txBody>
                    <a:bodyPr/>
                    <a:lstStyle/>
                    <a:p>
                      <a:r>
                        <a:rPr lang="en-US"/>
                        <a:t>12.805</a:t>
                      </a:r>
                    </a:p>
                  </a:txBody>
                  <a:tcPr/>
                </a:tc>
                <a:tc>
                  <a:txBody>
                    <a:bodyPr/>
                    <a:lstStyle/>
                    <a:p>
                      <a:r>
                        <a:rPr lang="en-US" dirty="0"/>
                        <a:t>Root Mean Squared Error</a:t>
                      </a:r>
                    </a:p>
                  </a:txBody>
                  <a:tcPr/>
                </a:tc>
                <a:extLst>
                  <a:ext uri="{0D108BD9-81ED-4DB2-BD59-A6C34878D82A}">
                    <a16:rowId xmlns:a16="http://schemas.microsoft.com/office/drawing/2014/main" val="3552788193"/>
                  </a:ext>
                </a:extLst>
              </a:tr>
              <a:tr h="370840">
                <a:tc>
                  <a:txBody>
                    <a:bodyPr/>
                    <a:lstStyle/>
                    <a:p>
                      <a:r>
                        <a:rPr lang="en-US"/>
                        <a:t>R^2</a:t>
                      </a:r>
                    </a:p>
                  </a:txBody>
                  <a:tcPr/>
                </a:tc>
                <a:tc>
                  <a:txBody>
                    <a:bodyPr/>
                    <a:lstStyle/>
                    <a:p>
                      <a:r>
                        <a:rPr lang="en-US"/>
                        <a:t>57.2%</a:t>
                      </a:r>
                    </a:p>
                  </a:txBody>
                  <a:tcPr/>
                </a:tc>
                <a:tc>
                  <a:txBody>
                    <a:bodyPr/>
                    <a:lstStyle/>
                    <a:p>
                      <a:r>
                        <a:rPr lang="en-US"/>
                        <a:t>Model explains 57.2% of variance</a:t>
                      </a:r>
                      <a:endParaRPr lang="en-US" err="1"/>
                    </a:p>
                  </a:txBody>
                  <a:tcPr/>
                </a:tc>
                <a:extLst>
                  <a:ext uri="{0D108BD9-81ED-4DB2-BD59-A6C34878D82A}">
                    <a16:rowId xmlns:a16="http://schemas.microsoft.com/office/drawing/2014/main" val="3139564781"/>
                  </a:ext>
                </a:extLst>
              </a:tr>
              <a:tr h="370840">
                <a:tc>
                  <a:txBody>
                    <a:bodyPr/>
                    <a:lstStyle/>
                    <a:p>
                      <a:r>
                        <a:rPr lang="en-US"/>
                        <a:t>Adjusted R^2</a:t>
                      </a:r>
                    </a:p>
                  </a:txBody>
                  <a:tcPr/>
                </a:tc>
                <a:tc>
                  <a:txBody>
                    <a:bodyPr/>
                    <a:lstStyle/>
                    <a:p>
                      <a:r>
                        <a:rPr lang="en-US"/>
                        <a:t>81.5%</a:t>
                      </a:r>
                    </a:p>
                  </a:txBody>
                  <a:tcPr/>
                </a:tc>
                <a:tc>
                  <a:txBody>
                    <a:bodyPr/>
                    <a:lstStyle/>
                    <a:p>
                      <a:r>
                        <a:rPr lang="en-US"/>
                        <a:t>Model explains 81.5% of variance</a:t>
                      </a:r>
                    </a:p>
                  </a:txBody>
                  <a:tcPr/>
                </a:tc>
                <a:extLst>
                  <a:ext uri="{0D108BD9-81ED-4DB2-BD59-A6C34878D82A}">
                    <a16:rowId xmlns:a16="http://schemas.microsoft.com/office/drawing/2014/main" val="1248122569"/>
                  </a:ext>
                </a:extLst>
              </a:tr>
            </a:tbl>
          </a:graphicData>
        </a:graphic>
      </p:graphicFrame>
      <p:sp>
        <p:nvSpPr>
          <p:cNvPr id="16" name="TextBox 15">
            <a:extLst>
              <a:ext uri="{FF2B5EF4-FFF2-40B4-BE49-F238E27FC236}">
                <a16:creationId xmlns:a16="http://schemas.microsoft.com/office/drawing/2014/main" id="{553B2C94-8781-5807-C77D-554BDCC2863D}"/>
              </a:ext>
            </a:extLst>
          </p:cNvPr>
          <p:cNvSpPr txBox="1"/>
          <p:nvPr/>
        </p:nvSpPr>
        <p:spPr>
          <a:xfrm>
            <a:off x="1166739" y="5921153"/>
            <a:ext cx="88086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Calibri"/>
                <a:cs typeface="Calibri"/>
              </a:rPr>
              <a:t>Evaluation Metrics on Test Dataset</a:t>
            </a:r>
            <a:endParaRPr lang="en-US" sz="2000" dirty="0">
              <a:ea typeface="Calibri"/>
              <a:cs typeface="Calibri"/>
            </a:endParaRPr>
          </a:p>
        </p:txBody>
      </p:sp>
      <p:sp>
        <p:nvSpPr>
          <p:cNvPr id="17" name="TextBox 16">
            <a:extLst>
              <a:ext uri="{FF2B5EF4-FFF2-40B4-BE49-F238E27FC236}">
                <a16:creationId xmlns:a16="http://schemas.microsoft.com/office/drawing/2014/main" id="{379ABE8B-B7AD-6E44-0F25-735763DF03B9}"/>
              </a:ext>
            </a:extLst>
          </p:cNvPr>
          <p:cNvSpPr txBox="1"/>
          <p:nvPr/>
        </p:nvSpPr>
        <p:spPr>
          <a:xfrm>
            <a:off x="995690" y="1479376"/>
            <a:ext cx="963475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1.Technological Index Model(Target Variable: Technology Index)</a:t>
            </a:r>
          </a:p>
        </p:txBody>
      </p:sp>
    </p:spTree>
    <p:extLst>
      <p:ext uri="{BB962C8B-B14F-4D97-AF65-F5344CB8AC3E}">
        <p14:creationId xmlns:p14="http://schemas.microsoft.com/office/powerpoint/2010/main" val="3300198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81BF-1B10-18F3-F894-17DC1BB264C8}"/>
              </a:ext>
            </a:extLst>
          </p:cNvPr>
          <p:cNvSpPr>
            <a:spLocks noGrp="1"/>
          </p:cNvSpPr>
          <p:nvPr>
            <p:ph type="title"/>
          </p:nvPr>
        </p:nvSpPr>
        <p:spPr>
          <a:xfrm>
            <a:off x="714632" y="2465773"/>
            <a:ext cx="7426410" cy="326724"/>
          </a:xfrm>
        </p:spPr>
        <p:txBody>
          <a:bodyPr>
            <a:normAutofit fontScale="90000"/>
          </a:bodyPr>
          <a:lstStyle/>
          <a:p>
            <a:r>
              <a:rPr lang="en-US" sz="2000">
                <a:ea typeface="Calibri Light"/>
                <a:cs typeface="Calibri Light"/>
              </a:rPr>
              <a:t>   </a:t>
            </a:r>
            <a:endParaRPr lang="en-US" sz="2000"/>
          </a:p>
        </p:txBody>
      </p:sp>
      <p:sp>
        <p:nvSpPr>
          <p:cNvPr id="3" name="Content Placeholder 2">
            <a:extLst>
              <a:ext uri="{FF2B5EF4-FFF2-40B4-BE49-F238E27FC236}">
                <a16:creationId xmlns:a16="http://schemas.microsoft.com/office/drawing/2014/main" id="{52CE7558-6DFE-ACA5-0A42-E532454051B0}"/>
              </a:ext>
            </a:extLst>
          </p:cNvPr>
          <p:cNvSpPr>
            <a:spLocks noGrp="1"/>
          </p:cNvSpPr>
          <p:nvPr>
            <p:ph idx="1"/>
          </p:nvPr>
        </p:nvSpPr>
        <p:spPr>
          <a:xfrm>
            <a:off x="549875" y="188355"/>
            <a:ext cx="10886303" cy="6040094"/>
          </a:xfrm>
        </p:spPr>
        <p:txBody>
          <a:bodyPr vert="horz" lIns="91440" tIns="45720" rIns="91440" bIns="45720" rtlCol="0" anchor="t">
            <a:normAutofit/>
          </a:bodyPr>
          <a:lstStyle/>
          <a:p>
            <a:pPr marL="0" indent="0">
              <a:buNone/>
            </a:pPr>
            <a:r>
              <a:rPr lang="en-US">
                <a:ea typeface="Calibri"/>
                <a:cs typeface="Calibri"/>
              </a:rPr>
              <a:t>2.Fertilizer Model(Target Variable: Fertilizer)</a:t>
            </a:r>
          </a:p>
        </p:txBody>
      </p:sp>
      <p:graphicFrame>
        <p:nvGraphicFramePr>
          <p:cNvPr id="4" name="Table 3">
            <a:extLst>
              <a:ext uri="{FF2B5EF4-FFF2-40B4-BE49-F238E27FC236}">
                <a16:creationId xmlns:a16="http://schemas.microsoft.com/office/drawing/2014/main" id="{4E4BF710-36E9-A422-5741-1EE9A5E92037}"/>
              </a:ext>
            </a:extLst>
          </p:cNvPr>
          <p:cNvGraphicFramePr>
            <a:graphicFrameLocks noGrp="1"/>
          </p:cNvGraphicFramePr>
          <p:nvPr>
            <p:extLst>
              <p:ext uri="{D42A27DB-BD31-4B8C-83A1-F6EECF244321}">
                <p14:modId xmlns:p14="http://schemas.microsoft.com/office/powerpoint/2010/main" val="2767466928"/>
              </p:ext>
            </p:extLst>
          </p:nvPr>
        </p:nvGraphicFramePr>
        <p:xfrm>
          <a:off x="710513" y="937053"/>
          <a:ext cx="9466614" cy="1553280"/>
        </p:xfrm>
        <a:graphic>
          <a:graphicData uri="http://schemas.openxmlformats.org/drawingml/2006/table">
            <a:tbl>
              <a:tblPr firstRow="1" bandRow="1">
                <a:tableStyleId>{93296810-A885-4BE3-A3E7-6D5BEEA58F35}</a:tableStyleId>
              </a:tblPr>
              <a:tblGrid>
                <a:gridCol w="2277716">
                  <a:extLst>
                    <a:ext uri="{9D8B030D-6E8A-4147-A177-3AD203B41FA5}">
                      <a16:colId xmlns:a16="http://schemas.microsoft.com/office/drawing/2014/main" val="3383200588"/>
                    </a:ext>
                  </a:extLst>
                </a:gridCol>
                <a:gridCol w="2429565">
                  <a:extLst>
                    <a:ext uri="{9D8B030D-6E8A-4147-A177-3AD203B41FA5}">
                      <a16:colId xmlns:a16="http://schemas.microsoft.com/office/drawing/2014/main" val="631707677"/>
                    </a:ext>
                  </a:extLst>
                </a:gridCol>
                <a:gridCol w="4759333">
                  <a:extLst>
                    <a:ext uri="{9D8B030D-6E8A-4147-A177-3AD203B41FA5}">
                      <a16:colId xmlns:a16="http://schemas.microsoft.com/office/drawing/2014/main" val="3084579982"/>
                    </a:ext>
                  </a:extLst>
                </a:gridCol>
              </a:tblGrid>
              <a:tr h="393521">
                <a:tc>
                  <a:txBody>
                    <a:bodyPr/>
                    <a:lstStyle/>
                    <a:p>
                      <a:r>
                        <a:rPr lang="en-US"/>
                        <a:t>METRIC</a:t>
                      </a:r>
                    </a:p>
                  </a:txBody>
                  <a:tcPr/>
                </a:tc>
                <a:tc>
                  <a:txBody>
                    <a:bodyPr/>
                    <a:lstStyle/>
                    <a:p>
                      <a:r>
                        <a:rPr lang="en-US"/>
                        <a:t>VALUE</a:t>
                      </a:r>
                    </a:p>
                  </a:txBody>
                  <a:tcPr/>
                </a:tc>
                <a:tc>
                  <a:txBody>
                    <a:bodyPr/>
                    <a:lstStyle/>
                    <a:p>
                      <a:r>
                        <a:rPr lang="en-US"/>
                        <a:t>INTERPRETATION</a:t>
                      </a:r>
                    </a:p>
                  </a:txBody>
                  <a:tcPr/>
                </a:tc>
                <a:extLst>
                  <a:ext uri="{0D108BD9-81ED-4DB2-BD59-A6C34878D82A}">
                    <a16:rowId xmlns:a16="http://schemas.microsoft.com/office/drawing/2014/main" val="2458391137"/>
                  </a:ext>
                </a:extLst>
              </a:tr>
              <a:tr h="372717">
                <a:tc>
                  <a:txBody>
                    <a:bodyPr/>
                    <a:lstStyle/>
                    <a:p>
                      <a:r>
                        <a:rPr lang="en-US"/>
                        <a:t>RMSE</a:t>
                      </a:r>
                    </a:p>
                  </a:txBody>
                  <a:tcPr/>
                </a:tc>
                <a:tc>
                  <a:txBody>
                    <a:bodyPr/>
                    <a:lstStyle/>
                    <a:p>
                      <a:r>
                        <a:rPr lang="en-US"/>
                        <a:t>15.72</a:t>
                      </a:r>
                    </a:p>
                  </a:txBody>
                  <a:tcPr/>
                </a:tc>
                <a:tc>
                  <a:txBody>
                    <a:bodyPr/>
                    <a:lstStyle/>
                    <a:p>
                      <a:r>
                        <a:rPr lang="en-US"/>
                        <a:t>Root Mean Squared Error</a:t>
                      </a:r>
                    </a:p>
                  </a:txBody>
                  <a:tcPr/>
                </a:tc>
                <a:extLst>
                  <a:ext uri="{0D108BD9-81ED-4DB2-BD59-A6C34878D82A}">
                    <a16:rowId xmlns:a16="http://schemas.microsoft.com/office/drawing/2014/main" val="3480609334"/>
                  </a:ext>
                </a:extLst>
              </a:tr>
              <a:tr h="393521">
                <a:tc>
                  <a:txBody>
                    <a:bodyPr/>
                    <a:lstStyle/>
                    <a:p>
                      <a:r>
                        <a:rPr lang="en-US"/>
                        <a:t>R^2</a:t>
                      </a:r>
                    </a:p>
                  </a:txBody>
                  <a:tcPr/>
                </a:tc>
                <a:tc>
                  <a:txBody>
                    <a:bodyPr/>
                    <a:lstStyle/>
                    <a:p>
                      <a:r>
                        <a:rPr lang="en-US"/>
                        <a:t>92.5%</a:t>
                      </a:r>
                    </a:p>
                  </a:txBody>
                  <a:tcPr/>
                </a:tc>
                <a:tc>
                  <a:txBody>
                    <a:bodyPr/>
                    <a:lstStyle/>
                    <a:p>
                      <a:r>
                        <a:rPr lang="en-US"/>
                        <a:t>Model explains 92.5% of variance</a:t>
                      </a:r>
                    </a:p>
                  </a:txBody>
                  <a:tcPr/>
                </a:tc>
                <a:extLst>
                  <a:ext uri="{0D108BD9-81ED-4DB2-BD59-A6C34878D82A}">
                    <a16:rowId xmlns:a16="http://schemas.microsoft.com/office/drawing/2014/main" val="2775796349"/>
                  </a:ext>
                </a:extLst>
              </a:tr>
              <a:tr h="393521">
                <a:tc>
                  <a:txBody>
                    <a:bodyPr/>
                    <a:lstStyle/>
                    <a:p>
                      <a:r>
                        <a:rPr lang="en-US"/>
                        <a:t>Adjusted R^2</a:t>
                      </a:r>
                    </a:p>
                  </a:txBody>
                  <a:tcPr/>
                </a:tc>
                <a:tc>
                  <a:txBody>
                    <a:bodyPr/>
                    <a:lstStyle/>
                    <a:p>
                      <a:r>
                        <a:rPr lang="en-US"/>
                        <a:t>87.2%</a:t>
                      </a:r>
                    </a:p>
                  </a:txBody>
                  <a:tcPr/>
                </a:tc>
                <a:tc>
                  <a:txBody>
                    <a:bodyPr/>
                    <a:lstStyle/>
                    <a:p>
                      <a:r>
                        <a:rPr lang="en-US"/>
                        <a:t>Model explains 87.2% of variance</a:t>
                      </a:r>
                    </a:p>
                  </a:txBody>
                  <a:tcPr/>
                </a:tc>
                <a:extLst>
                  <a:ext uri="{0D108BD9-81ED-4DB2-BD59-A6C34878D82A}">
                    <a16:rowId xmlns:a16="http://schemas.microsoft.com/office/drawing/2014/main" val="250631272"/>
                  </a:ext>
                </a:extLst>
              </a:tr>
            </a:tbl>
          </a:graphicData>
        </a:graphic>
      </p:graphicFrame>
      <p:sp>
        <p:nvSpPr>
          <p:cNvPr id="6" name="TextBox 5">
            <a:extLst>
              <a:ext uri="{FF2B5EF4-FFF2-40B4-BE49-F238E27FC236}">
                <a16:creationId xmlns:a16="http://schemas.microsoft.com/office/drawing/2014/main" id="{36C2CDE6-61B9-CE90-020F-4E2151FE6806}"/>
              </a:ext>
            </a:extLst>
          </p:cNvPr>
          <p:cNvSpPr txBox="1"/>
          <p:nvPr/>
        </p:nvSpPr>
        <p:spPr>
          <a:xfrm>
            <a:off x="707366" y="2748445"/>
            <a:ext cx="833593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Evaluation Metrics on Training Dataset</a:t>
            </a:r>
          </a:p>
        </p:txBody>
      </p:sp>
      <p:graphicFrame>
        <p:nvGraphicFramePr>
          <p:cNvPr id="7" name="Table 6">
            <a:extLst>
              <a:ext uri="{FF2B5EF4-FFF2-40B4-BE49-F238E27FC236}">
                <a16:creationId xmlns:a16="http://schemas.microsoft.com/office/drawing/2014/main" id="{2DEBA291-63ED-A552-ADBF-2114120C1B37}"/>
              </a:ext>
            </a:extLst>
          </p:cNvPr>
          <p:cNvGraphicFramePr>
            <a:graphicFrameLocks noGrp="1"/>
          </p:cNvGraphicFramePr>
          <p:nvPr>
            <p:extLst>
              <p:ext uri="{D42A27DB-BD31-4B8C-83A1-F6EECF244321}">
                <p14:modId xmlns:p14="http://schemas.microsoft.com/office/powerpoint/2010/main" val="2670483026"/>
              </p:ext>
            </p:extLst>
          </p:nvPr>
        </p:nvGraphicFramePr>
        <p:xfrm>
          <a:off x="714221" y="3718890"/>
          <a:ext cx="9604684" cy="1483360"/>
        </p:xfrm>
        <a:graphic>
          <a:graphicData uri="http://schemas.openxmlformats.org/drawingml/2006/table">
            <a:tbl>
              <a:tblPr firstRow="1" bandRow="1">
                <a:tableStyleId>{93296810-A885-4BE3-A3E7-6D5BEEA58F35}</a:tableStyleId>
              </a:tblPr>
              <a:tblGrid>
                <a:gridCol w="2470977">
                  <a:extLst>
                    <a:ext uri="{9D8B030D-6E8A-4147-A177-3AD203B41FA5}">
                      <a16:colId xmlns:a16="http://schemas.microsoft.com/office/drawing/2014/main" val="2517871022"/>
                    </a:ext>
                  </a:extLst>
                </a:gridCol>
                <a:gridCol w="2429565">
                  <a:extLst>
                    <a:ext uri="{9D8B030D-6E8A-4147-A177-3AD203B41FA5}">
                      <a16:colId xmlns:a16="http://schemas.microsoft.com/office/drawing/2014/main" val="540614046"/>
                    </a:ext>
                  </a:extLst>
                </a:gridCol>
                <a:gridCol w="4704142">
                  <a:extLst>
                    <a:ext uri="{9D8B030D-6E8A-4147-A177-3AD203B41FA5}">
                      <a16:colId xmlns:a16="http://schemas.microsoft.com/office/drawing/2014/main" val="899090340"/>
                    </a:ext>
                  </a:extLst>
                </a:gridCol>
              </a:tblGrid>
              <a:tr h="370840">
                <a:tc>
                  <a:txBody>
                    <a:bodyPr/>
                    <a:lstStyle/>
                    <a:p>
                      <a:r>
                        <a:rPr lang="en-US"/>
                        <a:t>METRIC</a:t>
                      </a:r>
                    </a:p>
                  </a:txBody>
                  <a:tcPr/>
                </a:tc>
                <a:tc>
                  <a:txBody>
                    <a:bodyPr/>
                    <a:lstStyle/>
                    <a:p>
                      <a:r>
                        <a:rPr lang="en-US"/>
                        <a:t>VALUE</a:t>
                      </a:r>
                    </a:p>
                  </a:txBody>
                  <a:tcPr/>
                </a:tc>
                <a:tc>
                  <a:txBody>
                    <a:bodyPr/>
                    <a:lstStyle/>
                    <a:p>
                      <a:r>
                        <a:rPr lang="en-US"/>
                        <a:t>INTERPRETATION</a:t>
                      </a:r>
                    </a:p>
                  </a:txBody>
                  <a:tcPr/>
                </a:tc>
                <a:extLst>
                  <a:ext uri="{0D108BD9-81ED-4DB2-BD59-A6C34878D82A}">
                    <a16:rowId xmlns:a16="http://schemas.microsoft.com/office/drawing/2014/main" val="4225136948"/>
                  </a:ext>
                </a:extLst>
              </a:tr>
              <a:tr h="370840">
                <a:tc>
                  <a:txBody>
                    <a:bodyPr/>
                    <a:lstStyle/>
                    <a:p>
                      <a:r>
                        <a:rPr lang="en-US"/>
                        <a:t>RMSE</a:t>
                      </a:r>
                    </a:p>
                  </a:txBody>
                  <a:tcPr/>
                </a:tc>
                <a:tc>
                  <a:txBody>
                    <a:bodyPr/>
                    <a:lstStyle/>
                    <a:p>
                      <a:r>
                        <a:rPr lang="en-US"/>
                        <a:t>37.029</a:t>
                      </a:r>
                    </a:p>
                  </a:txBody>
                  <a:tcPr/>
                </a:tc>
                <a:tc>
                  <a:txBody>
                    <a:bodyPr/>
                    <a:lstStyle/>
                    <a:p>
                      <a:r>
                        <a:rPr lang="en-US"/>
                        <a:t>Root Mean Squared Error</a:t>
                      </a:r>
                    </a:p>
                  </a:txBody>
                  <a:tcPr/>
                </a:tc>
                <a:extLst>
                  <a:ext uri="{0D108BD9-81ED-4DB2-BD59-A6C34878D82A}">
                    <a16:rowId xmlns:a16="http://schemas.microsoft.com/office/drawing/2014/main" val="2625794698"/>
                  </a:ext>
                </a:extLst>
              </a:tr>
              <a:tr h="370840">
                <a:tc>
                  <a:txBody>
                    <a:bodyPr/>
                    <a:lstStyle/>
                    <a:p>
                      <a:r>
                        <a:rPr lang="en-US"/>
                        <a:t>R^2</a:t>
                      </a:r>
                    </a:p>
                  </a:txBody>
                  <a:tcPr/>
                </a:tc>
                <a:tc>
                  <a:txBody>
                    <a:bodyPr/>
                    <a:lstStyle/>
                    <a:p>
                      <a:r>
                        <a:rPr lang="en-US"/>
                        <a:t>57.5%</a:t>
                      </a:r>
                    </a:p>
                  </a:txBody>
                  <a:tcPr/>
                </a:tc>
                <a:tc>
                  <a:txBody>
                    <a:bodyPr/>
                    <a:lstStyle/>
                    <a:p>
                      <a:r>
                        <a:rPr lang="en-US"/>
                        <a:t>Model explains 57.5% of variance</a:t>
                      </a:r>
                    </a:p>
                  </a:txBody>
                  <a:tcPr/>
                </a:tc>
                <a:extLst>
                  <a:ext uri="{0D108BD9-81ED-4DB2-BD59-A6C34878D82A}">
                    <a16:rowId xmlns:a16="http://schemas.microsoft.com/office/drawing/2014/main" val="3677513004"/>
                  </a:ext>
                </a:extLst>
              </a:tr>
              <a:tr h="370840">
                <a:tc>
                  <a:txBody>
                    <a:bodyPr/>
                    <a:lstStyle/>
                    <a:p>
                      <a:r>
                        <a:rPr lang="en-US"/>
                        <a:t>Adjusted R^2</a:t>
                      </a:r>
                    </a:p>
                  </a:txBody>
                  <a:tcPr/>
                </a:tc>
                <a:tc>
                  <a:txBody>
                    <a:bodyPr/>
                    <a:lstStyle/>
                    <a:p>
                      <a:r>
                        <a:rPr lang="en-US"/>
                        <a:t>86.1%</a:t>
                      </a:r>
                    </a:p>
                  </a:txBody>
                  <a:tcPr/>
                </a:tc>
                <a:tc>
                  <a:txBody>
                    <a:bodyPr/>
                    <a:lstStyle/>
                    <a:p>
                      <a:r>
                        <a:rPr lang="en-US"/>
                        <a:t>Model explains 86.1% of </a:t>
                      </a:r>
                      <a:r>
                        <a:rPr lang="en-US" err="1"/>
                        <a:t>varaiance</a:t>
                      </a:r>
                    </a:p>
                  </a:txBody>
                  <a:tcPr/>
                </a:tc>
                <a:extLst>
                  <a:ext uri="{0D108BD9-81ED-4DB2-BD59-A6C34878D82A}">
                    <a16:rowId xmlns:a16="http://schemas.microsoft.com/office/drawing/2014/main" val="705281068"/>
                  </a:ext>
                </a:extLst>
              </a:tr>
            </a:tbl>
          </a:graphicData>
        </a:graphic>
      </p:graphicFrame>
      <p:sp>
        <p:nvSpPr>
          <p:cNvPr id="8" name="TextBox 7">
            <a:extLst>
              <a:ext uri="{FF2B5EF4-FFF2-40B4-BE49-F238E27FC236}">
                <a16:creationId xmlns:a16="http://schemas.microsoft.com/office/drawing/2014/main" id="{479369F7-ADD0-02BE-207D-688CEDA916B1}"/>
              </a:ext>
            </a:extLst>
          </p:cNvPr>
          <p:cNvSpPr txBox="1"/>
          <p:nvPr/>
        </p:nvSpPr>
        <p:spPr>
          <a:xfrm>
            <a:off x="786669" y="5451482"/>
            <a:ext cx="89293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Evaluation Metrics on Test Dataset</a:t>
            </a:r>
          </a:p>
        </p:txBody>
      </p:sp>
    </p:spTree>
    <p:extLst>
      <p:ext uri="{BB962C8B-B14F-4D97-AF65-F5344CB8AC3E}">
        <p14:creationId xmlns:p14="http://schemas.microsoft.com/office/powerpoint/2010/main" val="2609248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40409-4A31-F586-0EAC-73C334FD7582}"/>
              </a:ext>
            </a:extLst>
          </p:cNvPr>
          <p:cNvSpPr>
            <a:spLocks noGrp="1"/>
          </p:cNvSpPr>
          <p:nvPr>
            <p:ph type="title"/>
          </p:nvPr>
        </p:nvSpPr>
        <p:spPr/>
        <p:txBody>
          <a:bodyPr/>
          <a:lstStyle/>
          <a:p>
            <a:r>
              <a:rPr lang="en-US" b="1" u="sng"/>
              <a:t>Future Work:</a:t>
            </a:r>
            <a:endParaRPr lang="en-IN" b="1" u="sng"/>
          </a:p>
        </p:txBody>
      </p:sp>
      <p:sp>
        <p:nvSpPr>
          <p:cNvPr id="3" name="Content Placeholder 2">
            <a:extLst>
              <a:ext uri="{FF2B5EF4-FFF2-40B4-BE49-F238E27FC236}">
                <a16:creationId xmlns:a16="http://schemas.microsoft.com/office/drawing/2014/main" id="{B877E35F-2E0B-7851-32AB-94FC6BCA93DB}"/>
              </a:ext>
            </a:extLst>
          </p:cNvPr>
          <p:cNvSpPr>
            <a:spLocks noGrp="1"/>
          </p:cNvSpPr>
          <p:nvPr>
            <p:ph idx="1"/>
          </p:nvPr>
        </p:nvSpPr>
        <p:spPr/>
        <p:txBody>
          <a:bodyPr vert="horz" lIns="91440" tIns="45720" rIns="91440" bIns="45720" rtlCol="0" anchor="t">
            <a:normAutofit/>
          </a:bodyPr>
          <a:lstStyle/>
          <a:p>
            <a:pPr marL="0" indent="0">
              <a:buNone/>
            </a:pPr>
            <a:r>
              <a:rPr lang="en-IN">
                <a:ea typeface="+mn-lt"/>
                <a:cs typeface="+mn-lt"/>
              </a:rPr>
              <a:t>In the future, this work can be improved by collecting more recent and detailed data to make predictions more accurate. Including information from different regions or states could help the model understand local patterns better. Simple weather forecasts can also be added to improve future yield estimates. Another useful step would be to build a basic mobile or web app so that farmers or policymakers can easily input values and get suggestions. Lastly, testing these models in real farms and comparing the predicted results with actual outcomes would help improve and trust the system more.</a:t>
            </a:r>
            <a:endParaRPr lang="en-US"/>
          </a:p>
          <a:p>
            <a:endParaRPr lang="en-IN">
              <a:ea typeface="Calibri"/>
              <a:cs typeface="Calibri"/>
            </a:endParaRPr>
          </a:p>
        </p:txBody>
      </p:sp>
    </p:spTree>
    <p:extLst>
      <p:ext uri="{BB962C8B-B14F-4D97-AF65-F5344CB8AC3E}">
        <p14:creationId xmlns:p14="http://schemas.microsoft.com/office/powerpoint/2010/main" val="1385840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alpha val="6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480AA9-2BEB-A5B0-9342-398E233D0A9D}"/>
              </a:ext>
            </a:extLst>
          </p:cNvPr>
          <p:cNvSpPr txBox="1"/>
          <p:nvPr/>
        </p:nvSpPr>
        <p:spPr>
          <a:xfrm>
            <a:off x="3368040" y="2430780"/>
            <a:ext cx="6903720" cy="1323439"/>
          </a:xfrm>
          <a:prstGeom prst="rect">
            <a:avLst/>
          </a:prstGeom>
          <a:noFill/>
        </p:spPr>
        <p:txBody>
          <a:bodyPr wrap="square" rtlCol="0">
            <a:spAutoFit/>
          </a:bodyPr>
          <a:lstStyle/>
          <a:p>
            <a:r>
              <a:rPr lang="en-US" sz="8000" b="1" i="1" dirty="0">
                <a:effectLst>
                  <a:outerShdw blurRad="38100" dist="38100" dir="2700000" algn="tl">
                    <a:srgbClr val="000000">
                      <a:alpha val="43137"/>
                    </a:srgbClr>
                  </a:outerShdw>
                </a:effectLst>
              </a:rPr>
              <a:t>THANK YOU</a:t>
            </a:r>
            <a:endParaRPr lang="en-IN" sz="8000"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82805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2198</Words>
  <Application>Microsoft Office PowerPoint</Application>
  <PresentationFormat>Widescreen</PresentationFormat>
  <Paragraphs>360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Forecasting Crop Yields Using Statistical Models</vt:lpstr>
      <vt:lpstr>Data Exploration:</vt:lpstr>
      <vt:lpstr>Correlation With Crop Yield:  </vt:lpstr>
      <vt:lpstr>Correlation Heatmap:</vt:lpstr>
      <vt:lpstr>Visualization :</vt:lpstr>
      <vt:lpstr>PowerPoint Presentation</vt:lpstr>
      <vt:lpstr>PowerPoint Presentation</vt:lpstr>
      <vt:lpstr>PowerPoint Presentation</vt:lpstr>
      <vt:lpstr>PowerPoint Presentation</vt:lpstr>
      <vt:lpstr>Time Series Plot:</vt:lpstr>
      <vt:lpstr>PowerPoint Presentation</vt:lpstr>
      <vt:lpstr>PowerPoint Presentation</vt:lpstr>
      <vt:lpstr>Model Building:</vt:lpstr>
      <vt:lpstr>PowerPoint Presentation</vt:lpstr>
      <vt:lpstr>      Model Validation:</vt:lpstr>
      <vt:lpstr>Results Interpretation:</vt:lpstr>
      <vt:lpstr>Model Validation and Forecasting:</vt:lpstr>
      <vt:lpstr>Feature Contribution Analysis:</vt:lpstr>
      <vt:lpstr>PowerPoint Presentation</vt:lpstr>
      <vt:lpstr>Model Validation and Forecasting:</vt:lpstr>
      <vt:lpstr>Variable Importance Plot:</vt:lpstr>
      <vt:lpstr>Model Validation and Forecasting:</vt:lpstr>
      <vt:lpstr>Optimization Problem to maximize Crop Yield (ton/ha) using Random Forest Regression:</vt:lpstr>
      <vt:lpstr>PowerPoint Presentation</vt:lpstr>
      <vt:lpstr>PowerPoint Presentation</vt:lpstr>
      <vt:lpstr>PowerPoint Presentation</vt:lpstr>
      <vt:lpstr>PowerPoint Presentation</vt:lpstr>
      <vt:lpstr>Optimization Problem to maximize Crop Yield (ton/ha) using Random Forest Regression: </vt:lpstr>
      <vt:lpstr>Prediction of Human factors for desired crop yield: </vt:lpstr>
      <vt:lpstr>   </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Unnati Mandal</dc:creator>
  <cp:lastModifiedBy>Unnati Mandal</cp:lastModifiedBy>
  <cp:revision>14</cp:revision>
  <dcterms:created xsi:type="dcterms:W3CDTF">2025-04-11T07:25:27Z</dcterms:created>
  <dcterms:modified xsi:type="dcterms:W3CDTF">2026-06-13T07:36:16Z</dcterms:modified>
</cp:coreProperties>
</file>